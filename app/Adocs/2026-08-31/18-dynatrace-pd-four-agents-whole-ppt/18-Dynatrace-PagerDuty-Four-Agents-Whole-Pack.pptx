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6E6F5"/>
                </a:solidFill>
                <a:latin typeface="Calibri"/>
              </a:rPr>
              <a:t>Combined architecture + design + Teams POC pack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Dynatrace to PagerDuty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D6E6F5"/>
                </a:solidFill>
                <a:latin typeface="Calibri"/>
              </a:rPr>
              <a:t>Four AI Agents — Whole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SRE  |  Scribe  |  Shift  |  Insights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40480"/>
            <a:ext cx="3657600" cy="2011680"/>
          </a:xfrm>
          <a:prstGeom prst="roundRect">
            <a:avLst/>
          </a:prstGeom>
          <a:solidFill>
            <a:srgbClr val="123A6B"/>
          </a:solidFill>
          <a:ln>
            <a:solidFill>
              <a:srgbClr val="D6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Part A — Narrative</a:t>
            </a:r>
          </a:p>
          <a:p>
            <a:r>
              <a:rPr sz="1200" b="0">
                <a:solidFill>
                  <a:srgbClr val="D6E6F5"/>
                </a:solidFill>
                <a:latin typeface="Calibri"/>
              </a:rPr>
              <a:t>Architecture summary</a:t>
            </a:r>
          </a:p>
          <a:p>
            <a:r>
              <a:rPr sz="1200" b="0">
                <a:solidFill>
                  <a:srgbClr val="D6E6F5"/>
                </a:solidFill>
                <a:latin typeface="Calibri"/>
              </a:rPr>
              <a:t>AS-IS / TO-BE story</a:t>
            </a:r>
          </a:p>
          <a:p>
            <a:r>
              <a:rPr sz="1200" b="0">
                <a:solidFill>
                  <a:srgbClr val="D6E6F5"/>
                </a:solidFill>
                <a:latin typeface="Calibri"/>
              </a:rPr>
              <a:t>Agent detail + cost/safety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840480"/>
            <a:ext cx="3657600" cy="2011680"/>
          </a:xfrm>
          <a:prstGeom prst="roundRect">
            <a:avLst/>
          </a:prstGeom>
          <a:solidFill>
            <a:srgbClr val="123A6B"/>
          </a:solidFill>
          <a:ln>
            <a:solidFill>
              <a:srgbClr val="D6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Part B — Design diagrams</a:t>
            </a:r>
          </a:p>
          <a:p>
            <a:r>
              <a:rPr sz="1200" b="0">
                <a:solidFill>
                  <a:srgbClr val="D6E6F5"/>
                </a:solidFill>
                <a:latin typeface="Calibri"/>
              </a:rPr>
              <a:t>Solution context boxes</a:t>
            </a:r>
          </a:p>
          <a:p>
            <a:r>
              <a:rPr sz="1200" b="0">
                <a:solidFill>
                  <a:srgbClr val="D6E6F5"/>
                </a:solidFill>
                <a:latin typeface="Calibri"/>
              </a:rPr>
              <a:t>Impact / Alignment / HLD</a:t>
            </a:r>
          </a:p>
          <a:p>
            <a:r>
              <a:rPr sz="1200" b="0">
                <a:solidFill>
                  <a:srgbClr val="D6E6F5"/>
                </a:solidFill>
                <a:latin typeface="Calibri"/>
              </a:rPr>
              <a:t>Agent hub + checklist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3840480"/>
            <a:ext cx="3657600" cy="2011680"/>
          </a:xfrm>
          <a:prstGeom prst="roundRect">
            <a:avLst/>
          </a:prstGeom>
          <a:solidFill>
            <a:srgbClr val="123A6B"/>
          </a:solidFill>
          <a:ln>
            <a:solidFill>
              <a:srgbClr val="D6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Part C — Teams-only POC</a:t>
            </a:r>
          </a:p>
          <a:p>
            <a:r>
              <a:rPr sz="1200" b="0">
                <a:solidFill>
                  <a:srgbClr val="D6E6F5"/>
                </a:solidFill>
                <a:latin typeface="Calibri"/>
              </a:rPr>
              <a:t>§0 enablement</a:t>
            </a:r>
          </a:p>
          <a:p>
            <a:r>
              <a:rPr sz="1200" b="0">
                <a:solidFill>
                  <a:srgbClr val="D6E6F5"/>
                </a:solidFill>
                <a:latin typeface="Calibri"/>
              </a:rPr>
              <a:t>SRE / Scribe / Shift / Insights</a:t>
            </a:r>
          </a:p>
          <a:p>
            <a:r>
              <a:rPr sz="1200" b="0">
                <a:solidFill>
                  <a:srgbClr val="D6E6F5"/>
                </a:solidFill>
                <a:latin typeface="Calibri"/>
              </a:rPr>
              <a:t>Click-path runbook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Dynatrace to PagerDuty Four AI Agents — Whole Pack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1 / 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Whole Pack — Agenda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3474720"/>
                <a:gridCol w="5029200"/>
                <a:gridCol w="1828800"/>
              </a:tblGrid>
              <a:tr h="411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you get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Slides (approx)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seq 13 narrative PPT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Summary sheet, AS-IS/TO-BE story, agents, enablement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seq 15 design diagrams PPT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Visual Solution Context, Impact, Alignment, HLD, hub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seq 17 Teams-only POC PPT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Full §0–§4 click path for Teams-only orgs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3657600"/>
            <a:ext cx="11430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How to use
• Design review / board discussion → Part A then Part B
• Hands-on Teams-only POC afternoon → Part C
• Safe demo rule everywhere: test Service + Level-1 test schedule — never prod pages
• Footer on every slide is clean (no board-template branding)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Dynatrace to PagerDuty Four AI Agents — Whole Pack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2 / 42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6E6F5"/>
                </a:solidFill>
                <a:latin typeface="Calibri"/>
              </a:rPr>
              <a:t>PART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Narrative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6E6F5"/>
                </a:solidFill>
                <a:latin typeface="Calibri"/>
              </a:rPr>
              <a:t>• From seq 13 — Dynatrace → PagerDuty Four AI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6E6F5"/>
                </a:solidFill>
                <a:latin typeface="Calibri"/>
              </a:rPr>
              <a:t>• Summary sheet, AS-IS / TO-BE, data flow, agent detail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23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6E6F5"/>
                </a:solidFill>
                <a:latin typeface="Calibri"/>
              </a:rPr>
              <a:t>• Enablement, cost, safety, POC afternoon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Dynatrace to PagerDuty Four AI Agents — Whole Pack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3 / 42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Architecture Design &lt;Summary Sheet&gt;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005840"/>
          <a:ext cx="11521440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961120"/>
              </a:tblGrid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Answer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Objective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Prove Dynatrace problems become clean PD incidents, then four Advance agents help humans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Background WHY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Dynatrace finds the problem; humans still dig docs, take notes, fix coverage, and report trends. Agents cut that toil.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Design Overview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Dynatrace Problem → PD Service (optional Event Orchestration) → page on-call → SRE triage / Scribe bridge / Shift coverage / Insights analytics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Not one of the four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Advance Assistant (router), Event Intelligence, PIR drafts — related, not the named suite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Cloud / SaaS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Dynatrace SaaS + PagerDuty Advance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Chat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Teams and/or Slack; Teams-only: SRE/Scribe/Insights Q&amp;A full; Shift DMs Slack-first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Cost model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SRE 4 Actions/ask; Scribe ~6/30min +2 summary; Shift 0; Insights 0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Safety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Test Service / test schedule only; human confirms remediations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Dynatrace to PagerDuty Four AI Agents — Whole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4 / 42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Which Agent Do You Need?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14400"/>
            <a:ext cx="11521440" cy="722376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07008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Pick the agent from the job — not from the logo.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920240"/>
          <a:ext cx="115214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2560320"/>
                <a:gridCol w="4389120"/>
              </a:tblGrid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Job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Agent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Active incident triage / RCA / runbook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SRE Agent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First 10 minutes after Dynatrace pages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Bridge notes / PIR draft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Scribe Agent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War room Zoom/Teams/Meet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OOO vs on-call / coverage override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Shift Agent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Before the next page; Level-1 schedules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MTTR / MTTA / volume trends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Insights Agent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After incidents; leadership prep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484632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Prerequisite gate: PagerDuty Advance enabled → connect Teams/Slack → enable agents → TEST service only.
Without Advance, agent toggles do nothing.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Dynatrace to PagerDuty Four AI Agents — Whole Pack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5 / 42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Solution Context — AS-IS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14400"/>
            <a:ext cx="11521440" cy="941832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07008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Dynatrace detects and creates/notifies a PagerDuty incident.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6464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Humans do triage, notes, coverage, and analytics mostly by hand.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057400"/>
            <a:ext cx="1371600" cy="4572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2140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AS-IS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834640"/>
            <a:ext cx="22860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0B2C5C"/>
                </a:solidFill>
                <a:latin typeface="Calibri"/>
              </a:rPr>
              <a:t>Dynatrace</a:t>
            </a:r>
          </a:p>
          <a:p>
            <a:r>
              <a:rPr sz="900" b="0">
                <a:solidFill>
                  <a:srgbClr val="555555"/>
                </a:solidFill>
                <a:latin typeface="Calibri"/>
              </a:rPr>
              <a:t>Problem / Davis AI
creates signal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743200" y="3383280"/>
            <a:ext cx="384048" cy="201168"/>
          </a:xfrm>
          <a:prstGeom prst="rightArrow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00400" y="2834640"/>
            <a:ext cx="23774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0B2C5C"/>
                </a:solidFill>
                <a:latin typeface="Calibri"/>
              </a:rPr>
              <a:t>PagerDuty</a:t>
            </a:r>
          </a:p>
          <a:p>
            <a:r>
              <a:rPr sz="900" b="0">
                <a:solidFill>
                  <a:srgbClr val="555555"/>
                </a:solidFill>
                <a:latin typeface="Calibri"/>
              </a:rPr>
              <a:t>Incident + escalation
pages on-call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669280" y="3383280"/>
            <a:ext cx="384048" cy="201168"/>
          </a:xfrm>
          <a:prstGeom prst="rightArrow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0" y="2834640"/>
            <a:ext cx="2560320" cy="1280160"/>
          </a:xfrm>
          <a:prstGeom prst="roundRect">
            <a:avLst/>
          </a:prstGeom>
          <a:solidFill>
            <a:srgbClr val="FFF2CC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0B2C5C"/>
                </a:solidFill>
                <a:latin typeface="Calibri"/>
              </a:rPr>
              <a:t>Human on-call</a:t>
            </a:r>
          </a:p>
          <a:p>
            <a:r>
              <a:rPr sz="900" b="0">
                <a:solidFill>
                  <a:srgbClr val="555555"/>
                </a:solidFill>
                <a:latin typeface="Calibri"/>
              </a:rPr>
              <a:t>Dig docs · type notes
Ask coverage · Export CSV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2834640"/>
            <a:ext cx="26517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0B2C5C"/>
                </a:solidFill>
                <a:latin typeface="Calibri"/>
              </a:rPr>
              <a:t>Pain</a:t>
            </a:r>
          </a:p>
          <a:p>
            <a:r>
              <a:rPr sz="900" b="0">
                <a:solidFill>
                  <a:srgbClr val="555555"/>
                </a:solidFill>
                <a:latin typeface="Calibri"/>
              </a:rPr>
              <a:t>Slow MTTA/MTTR
Noise · missed notes
Spreadsheet coverage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57200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AS-IS gap: Dynatrace is strong at detect. PagerDuty is strong at page.
The middle toil (triage, bridge notes, coverage, trends) is still mostly human.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Dynatrace to PagerDuty Four AI Agents — Whole Pack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6 / 42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Solution Context — TO-BE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14400"/>
            <a:ext cx="11521440" cy="941832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07008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Same Dynatrace → PagerDuty path, plus four Advance agents beside the human.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6464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Agents suggest and assist; humans still own blast radius.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057400"/>
            <a:ext cx="1371600" cy="457200"/>
          </a:xfrm>
          <a:prstGeom prst="roundRect">
            <a:avLst/>
          </a:prstGeom>
          <a:solidFill>
            <a:srgbClr val="1E8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2140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TO-BE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743200"/>
            <a:ext cx="20116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0B2C5C"/>
                </a:solidFill>
                <a:latin typeface="Calibri"/>
              </a:rPr>
              <a:t>Dynatrace</a:t>
            </a:r>
          </a:p>
          <a:p>
            <a:r>
              <a:rPr sz="900" b="0">
                <a:solidFill>
                  <a:srgbClr val="555555"/>
                </a:solidFill>
                <a:latin typeface="Calibri"/>
              </a:rPr>
              <a:t>Problem URL
in PD payload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331720" y="3200400"/>
            <a:ext cx="384048" cy="201168"/>
          </a:xfrm>
          <a:prstGeom prst="rightArrow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88920" y="2743200"/>
            <a:ext cx="21031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0B2C5C"/>
                </a:solidFill>
                <a:latin typeface="Calibri"/>
              </a:rPr>
              <a:t>PagerDuty</a:t>
            </a:r>
          </a:p>
          <a:p>
            <a:r>
              <a:rPr sz="900" b="0">
                <a:solidFill>
                  <a:srgbClr val="555555"/>
                </a:solidFill>
                <a:latin typeface="Calibri"/>
              </a:rPr>
              <a:t>Service + optional
Event Orchestration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983480" y="3200400"/>
            <a:ext cx="384048" cy="201168"/>
          </a:xfrm>
          <a:prstGeom prst="rightArrow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40680" y="2606040"/>
            <a:ext cx="24688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C0392B"/>
                </a:solidFill>
                <a:latin typeface="Calibri"/>
              </a:rPr>
              <a:t>Advance Agents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SRE · Scribe
Shift · Insights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046720" y="3200400"/>
            <a:ext cx="384048" cy="201168"/>
          </a:xfrm>
          <a:prstGeom prst="rightArrow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03920" y="2743200"/>
            <a:ext cx="32004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0B2C5C"/>
                </a:solidFill>
                <a:latin typeface="Calibri"/>
              </a:rPr>
              <a:t>Human decides</a:t>
            </a:r>
          </a:p>
          <a:p>
            <a:r>
              <a:rPr sz="900" b="0">
                <a:solidFill>
                  <a:srgbClr val="555555"/>
                </a:solidFill>
                <a:latin typeface="Calibri"/>
              </a:rPr>
              <a:t>Confirm remediation
Own the page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4206240"/>
            <a:ext cx="2651760" cy="137160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0B2C5C"/>
                </a:solidFill>
                <a:latin typeface="Calibri"/>
              </a:rPr>
              <a:t>SRE</a:t>
            </a:r>
          </a:p>
          <a:p>
            <a:r>
              <a:rPr sz="900" b="0">
                <a:solidFill>
                  <a:srgbClr val="555555"/>
                </a:solidFill>
                <a:latin typeface="Calibri"/>
              </a:rPr>
              <a:t>Triage + runbook
4 Actions / ask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08960" y="4206240"/>
            <a:ext cx="2651760" cy="137160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0B2C5C"/>
                </a:solidFill>
                <a:latin typeface="Calibri"/>
              </a:rPr>
              <a:t>Scribe</a:t>
            </a:r>
          </a:p>
          <a:p>
            <a:r>
              <a:rPr sz="900" b="0">
                <a:solidFill>
                  <a:srgbClr val="555555"/>
                </a:solidFill>
                <a:latin typeface="Calibri"/>
              </a:rPr>
              <a:t>Meeting transcript
~6/30m + 2 summary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4206240"/>
            <a:ext cx="2651760" cy="137160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0B2C5C"/>
                </a:solidFill>
                <a:latin typeface="Calibri"/>
              </a:rPr>
              <a:t>Shift</a:t>
            </a:r>
          </a:p>
          <a:p>
            <a:r>
              <a:rPr sz="900" b="0">
                <a:solidFill>
                  <a:srgbClr val="555555"/>
                </a:solidFill>
                <a:latin typeface="Calibri"/>
              </a:rPr>
              <a:t>Coverage / override
0 Actions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4206240"/>
            <a:ext cx="2926080" cy="137160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0B2C5C"/>
                </a:solidFill>
                <a:latin typeface="Calibri"/>
              </a:rPr>
              <a:t>Insights</a:t>
            </a:r>
          </a:p>
          <a:p>
            <a:r>
              <a:rPr sz="900" b="0">
                <a:solidFill>
                  <a:srgbClr val="555555"/>
                </a:solidFill>
                <a:latin typeface="Calibri"/>
              </a:rPr>
              <a:t>MTTR Q&amp;A + tips
0 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Dynatrace to PagerDuty Four AI Agents — Whole Pack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7 / 42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End-to-End Data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14400"/>
            <a:ext cx="11521440" cy="722376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07008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Detect → Notify → Page → Assist → Resolve → Learn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920240"/>
          <a:ext cx="11521440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840480"/>
                <a:gridCol w="5486400"/>
              </a:tblGrid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Agent touchpoint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 Detect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Dynatrace Davis Problem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None yet — keep problem URL in the event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 Notify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Dynatrace → PD Events / Workflow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Clean routing key + urgency matter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3 Optional noise cut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PD Event Orchestration / grouping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Fewer junk incidents before agents run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 Page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Escalation Policy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Shift kept coverage valid beforehand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5 Triage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Teams/Slack/PD web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SRE Agent summarizes + runbook + next steps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6 Collaborate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Zoom / Teams / Meet bridge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Scribe joins, transcript, summary, PIR context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 Resolve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PD Resolve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SRE service memory updates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8 Improve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Analytics / chat next week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Insights MTTR/MTTA Q&amp;A (weekly DMs Slack-first)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Dynatrace to PagerDuty Four AI Agents — Whole Pack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8 / 42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Four Agents at a Glance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" y="1005840"/>
          <a:ext cx="117043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657600"/>
                <a:gridCol w="3200400"/>
                <a:gridCol w="1371600"/>
                <a:gridCol w="2103120"/>
              </a:tblGrid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Agent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is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Primary surface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AI Actions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Teams-only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SRE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Virtual responder: context, runbook, next steps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Teams @pagerduty / PD SRE tab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 / ask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Full (EA)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Scribe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Joins meeting; transcript + wrap-up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Teams meeting + advance scribe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~6/30m +2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Strong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Shift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OOO conflict + coverage override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Slack DMs / web+Calendar Path B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Insights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Analytics Q&amp;A + weekly maturity tips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Teams @pagerduty Q&amp;A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Q&amp;A yes; weekly DM Slack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457200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Dynatrace tip: Dynatrace usually CREATES the incident (ingress).
It is not the main item on the SRE Agent connector list — enrich with Grafana/Datadog/CloudWatch/Confluence/GitHub as needed.
Keep the Dynatrace problem URL in custom_details so humans and SRE Agent can deep-link.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Dynatrace to PagerDuty Four AI Agents — Whole Pack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9 / 42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1) SRE Agent — Live Triage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14400"/>
            <a:ext cx="11521440" cy="941832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07008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Reads incident + ~2k chars custom_details + runbook + optional connectors.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6464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Suggests next steps; human must confirm remediations. Memory saves on Resolve.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2011680"/>
          <a:ext cx="115214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572000"/>
                <a:gridCol w="4023360"/>
              </a:tblGrid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Surface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How to start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Good first ask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MS Teams (Early Access)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@pagerduty … in mapped channel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What are some likely root causes?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Incident SRE tab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PD web → incident → SRE Agent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Analyze past incidents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Ops Console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AIOps + Advance → SRE tab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What steps should I take first?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Virtual responder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Incident Workflow / Escalation (EA)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Same 4 Actions per trigger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4846320"/>
            <a:ext cx="11430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POC story: Dynatrace “Checkout latency high” on test Service → Teams ask → upload poc-checkout-latency.md
→ past incidents → first steps → READ any remediation → Resolve.
Limits: runbook ≤100 KB; 25 files/conversation; no customer PII in channel questions.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Dynatrace to PagerDuty Four AI Agents — Whole Pack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10 / 42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2) Scribe Agent — Bridge Notes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14400"/>
            <a:ext cx="11521440" cy="941832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07008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Joins Zoom / Teams / Meet; streams transcript; posts decisions / actions / attendees.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6464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Human must join within 15 minutes for auto-join. Cap: 1 Scribe/meeting; 10 concurrent.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2011680"/>
          <a:ext cx="1152144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424160"/>
              </a:tblGrid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Enable Scribe in AI Settings (US often manual; EU may default on)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Put Teams/Zoom/Meet URL (with passcode) on the test incident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Auto-join OR Teams: @PagerDuty advance scribe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Join yourself within 15 minutes; admit lobby if needed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Speak symptom / cause / decision clearly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End meeting → confirm summary → optional PIR draft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Dynatrace to PagerDuty Four AI Agents — Whole Pack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11 / 42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3) Shift + 4)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C5C"/>
                </a:solidFill>
                <a:latin typeface="Calibri"/>
              </a:rPr>
              <a:t>Shift Agent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280160"/>
          <a:ext cx="1152144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235440"/>
              </a:tblGrid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Topic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Detail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Job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Detect OOO vs Level-1 on-call; request coverage; write override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 AI Actions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Slack path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Conflict DM → Request coverage → accept → schedule update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Teams-only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Path B recommended: Google Calendar + PD web manual override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Safety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Test schedule / test EP only — never prod primary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4114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C5C"/>
                </a:solidFill>
                <a:latin typeface="Calibri"/>
              </a:rPr>
              <a:t>Insights Agent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4434840"/>
          <a:ext cx="115214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235440"/>
              </a:tblGrid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Topic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Detail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Job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Conversational MTTR/MTTA/volume; weekly maturity tips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 AI Actions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Teams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On-demand @pagerduty Q&amp;A is GA; sanity-check vs Analytics UI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Slack-first gap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Weekly proactive recommendation DMs still documented as Slack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Dynatrace to PagerDuty Four AI Agents — Whole Pack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12 / 42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Enablement, Cost, Safety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14400"/>
            <a:ext cx="11521440" cy="722376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07008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Enable Advance once. Demo on a test Service that pages only you.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874519"/>
          <a:ext cx="1152144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235440"/>
              </a:tblGrid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Do this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 Shared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Advance On · Teams/Slack Connected · linkUser · test Service map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Graph (Teams)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ChatMessage.Read(.All) for Advance; prefer User.ReadBasic.All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Dynatrace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Test integration / routing key only; problem URL in payload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SRE connectors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Optional one real connector (not Dynatrace as “connector list” item)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SRE 4/ask · Scribe ~6/30m+2 · Shift 0 · Insights 0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Safety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 prod escalation · confirm remediations · no PII in channel asks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Dynatrace to PagerDuty Four AI Agents — Whole Pack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13 / 42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Suggested POC Afternoon + Open Items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005840"/>
          <a:ext cx="1152144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6858000"/>
                <a:gridCol w="3474720"/>
              </a:tblGrid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Order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Block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Time box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Shared enablement (Admins)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30–60 min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SRE Agent on Dynatrace-shaped test incident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15–20 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Scribe short Teams meeting (≤10 min)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15–20 min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Shift Path B (Calendar + web override)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10–15 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Insights conversational Q&amp;A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10–15 min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3931920"/>
          <a:ext cx="1152144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321040"/>
              </a:tblGrid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Open item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Advance entitlement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Need trial/add-on before toggles work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Teams Early Access for SRE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Confirm tenant has Teams EA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Shift full DM path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Needs Slack — document if Teams-only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Insights weekly DMs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Slack-first — document gap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Prod keys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Never point Dynatrace prod at POC Services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Dynatrace to PagerDuty Four AI Agents — Whole Pack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14 / 42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844E"/>
                </a:solidFill>
                <a:latin typeface="Calibri"/>
              </a:rPr>
              <a:t>PART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Design Diagrams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6E6F5"/>
                </a:solidFill>
                <a:latin typeface="Calibri"/>
              </a:rPr>
              <a:t>• From seq 15 — Solution Context design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6E6F5"/>
                </a:solidFill>
                <a:latin typeface="Calibri"/>
              </a:rPr>
              <a:t>• AS-IS / TO-BE hub diagrams, Impacted Platforms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23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6E6F5"/>
                </a:solidFill>
                <a:latin typeface="Calibri"/>
              </a:rPr>
              <a:t>• Alignment stack, Technical HLD, Agent hub, checklist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Dynatrace to PagerDuty Four AI Agents — Whole Pack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15 / 42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Solution Context Diagram — AS-IS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11612880" cy="704088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15568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Dynatrace detects problems and notifies PagerDuty; escalation pages on-call.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16736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Triage, bridge notes, coverage, and analytics are still mostly manual human 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691640"/>
            <a:ext cx="1371600" cy="4114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AS-IS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286000"/>
            <a:ext cx="2377440" cy="1143000"/>
          </a:xfrm>
          <a:prstGeom prst="roundRect">
            <a:avLst/>
          </a:prstGeom>
          <a:solidFill>
            <a:srgbClr val="FDE8D0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E67E22"/>
                </a:solidFill>
                <a:latin typeface="Calibri"/>
              </a:rPr>
              <a:t>Dynatrace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Davis Problem
metrics / logs / traces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834640" y="2743200"/>
            <a:ext cx="411480" cy="201168"/>
          </a:xfrm>
          <a:prstGeom prst="rightArrow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37560" y="2286000"/>
            <a:ext cx="2468880" cy="114300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PagerDuty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Incident created
Escalation Policy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97880" y="2743200"/>
            <a:ext cx="411480" cy="201168"/>
          </a:xfrm>
          <a:prstGeom prst="rightArrow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2194560"/>
            <a:ext cx="2651760" cy="1325880"/>
          </a:xfrm>
          <a:prstGeom prst="roundRect">
            <a:avLst/>
          </a:prstGeom>
          <a:solidFill>
            <a:srgbClr val="FFF2CC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E67E22"/>
                </a:solidFill>
                <a:latin typeface="Calibri"/>
              </a:rPr>
              <a:t>Human on-call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Ack · dig docs · type notes
Ask coverage · export CSV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2194560"/>
            <a:ext cx="2560320" cy="1325880"/>
          </a:xfrm>
          <a:prstGeom prst="roundRect">
            <a:avLst/>
          </a:prstGeom>
          <a:solidFill>
            <a:srgbClr val="FAE5D3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C0392B"/>
                </a:solidFill>
                <a:latin typeface="Calibri"/>
              </a:rPr>
              <a:t>Pain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Slow first 10 min
Lost bridge decisions
Coverage gaps
Manual trends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840480"/>
            <a:ext cx="23774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Apps / Infra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Checkout · hosts · DB
(monitored by Dynatrace)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17520" y="3840480"/>
            <a:ext cx="25603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Chat (optional)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Teams / Slack cards only
No AI agents yet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3840480"/>
            <a:ext cx="2743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Schedule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Level-1 on-call
Manual OOO overrides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3840480"/>
            <a:ext cx="2926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Analytics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PD Analytics UI
Manual pull for leadership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2120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2C5C"/>
                </a:solidFill>
                <a:latin typeface="Calibri"/>
              </a:rPr>
              <a:t>AS-IS gap: Detect (Dynatrace) and Page (PagerDuty) exist. The assist layer between page and resolve is human-only.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Dynatrace to PagerDuty Four AI Agents — Whole Pack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16 / 42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Solution Context Diagram — TO-BE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11612880" cy="704088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15568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PagerDuty Advance Four AI Agents assist beside the human after Dynatrace creates the incident.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16736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Optional Event Orchestration cuts noise before agents run. Humans still confirm remediations.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691640"/>
            <a:ext cx="1371600" cy="411480"/>
          </a:xfrm>
          <a:prstGeom prst="roundRect">
            <a:avLst/>
          </a:prstGeom>
          <a:solidFill>
            <a:srgbClr val="1E8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TO-BE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240280"/>
            <a:ext cx="2194560" cy="1005840"/>
          </a:xfrm>
          <a:prstGeom prst="roundRect">
            <a:avLst/>
          </a:prstGeom>
          <a:solidFill>
            <a:srgbClr val="D5F5E3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1E844E"/>
                </a:solidFill>
                <a:latin typeface="Calibri"/>
              </a:rPr>
              <a:t>Dynatrace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Problem + problem URL
in PD payload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3383280"/>
            <a:ext cx="2194560" cy="914400"/>
          </a:xfrm>
          <a:prstGeom prst="roundRect">
            <a:avLst/>
          </a:prstGeom>
          <a:solidFill>
            <a:srgbClr val="F2F4F7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Optional EO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Route / pause / group
(noise reduction)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4480560"/>
            <a:ext cx="21945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Ops (HQ)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Teams / PD web
OneAccount-style access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60320" y="2651760"/>
            <a:ext cx="411480" cy="201168"/>
          </a:xfrm>
          <a:prstGeom prst="rightArrow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2560320" y="3703320"/>
            <a:ext cx="411480" cy="201168"/>
          </a:xfrm>
          <a:prstGeom prst="rightArrow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2560320" y="4800600"/>
            <a:ext cx="411480" cy="201168"/>
          </a:xfrm>
          <a:prstGeom prst="rightArrow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108960" y="2468880"/>
            <a:ext cx="3017520" cy="23774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400" b="1">
                <a:solidFill>
                  <a:srgbClr val="C0392B"/>
                </a:solidFill>
                <a:latin typeface="Calibri"/>
              </a:rPr>
              <a:t>PagerDuty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Incident hub</a:t>
            </a:r>
          </a:p>
          <a:p>
            <a:r>
              <a:rPr sz="1300" b="1">
                <a:solidFill>
                  <a:srgbClr val="0B2C5C"/>
                </a:solidFill>
                <a:latin typeface="Calibri"/>
              </a:rPr>
              <a:t>
Advance AI Agents</a:t>
            </a:r>
          </a:p>
          <a:p>
            <a:r>
              <a:rPr sz="1200" b="1">
                <a:solidFill>
                  <a:srgbClr val="0E7C7B"/>
                </a:solidFill>
                <a:latin typeface="Calibri"/>
              </a:rPr>
              <a:t>SRE · Scribe
Shift · Insights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263640" y="3474720"/>
            <a:ext cx="411480" cy="201168"/>
          </a:xfrm>
          <a:prstGeom prst="rightArrow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66560" y="2194560"/>
            <a:ext cx="2468880" cy="96012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SRE Agent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Triage + runbook
4 Actions / ask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0" y="2194560"/>
            <a:ext cx="2468880" cy="96012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Scribe Agent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Meeting transcript
~6/30m + 2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0" y="3291840"/>
            <a:ext cx="2468880" cy="96012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Shift Agent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Coverage / override
0 Actions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18320" y="3291840"/>
            <a:ext cx="2468880" cy="96012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Insights Agent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MTTR Q&amp;A
0 Actions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66560" y="4480560"/>
            <a:ext cx="5120640" cy="1051560"/>
          </a:xfrm>
          <a:prstGeom prst="roundRect">
            <a:avLst/>
          </a:prstGeom>
          <a:solidFill>
            <a:srgbClr val="FFF2CC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E67E22"/>
                </a:solidFill>
                <a:latin typeface="Calibri"/>
              </a:rPr>
              <a:t>Human decides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Confirm remediations · Own blast radius · Resolve → SRE memory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Dynatrace to PagerDuty Four AI Agents — Whole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17 / 42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Impacted Platforms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11612880" cy="502920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15568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Four AI Agents consolidate assist work on the incident path and speed troubleshooting after Dynatrace pages.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2C5C"/>
                </a:solidFill>
                <a:latin typeface="Calibri"/>
              </a:rPr>
              <a:t>Legend 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011680"/>
            <a:ext cx="2560320" cy="640080"/>
          </a:xfrm>
          <a:prstGeom prst="roundRect">
            <a:avLst/>
          </a:prstGeom>
          <a:solidFill>
            <a:srgbClr val="D5F5E3"/>
          </a:solidFill>
          <a:ln>
            <a:solidFill>
              <a:srgbClr val="1E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1E844E"/>
                </a:solidFill>
                <a:latin typeface="Calibri"/>
              </a:rPr>
              <a:t>Green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Reuse existing
Dynatrace / PD / chat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2011680"/>
            <a:ext cx="2560320" cy="640080"/>
          </a:xfrm>
          <a:prstGeom prst="roundRect">
            <a:avLst/>
          </a:prstGeom>
          <a:solidFill>
            <a:srgbClr val="FDE8D0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E67E22"/>
                </a:solidFill>
                <a:latin typeface="Calibri"/>
              </a:rPr>
              <a:t>Orange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Modify / enable
Advance + agents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2011680"/>
            <a:ext cx="2743200" cy="640080"/>
          </a:xfrm>
          <a:prstGeom prst="roundRect">
            <a:avLst/>
          </a:prstGeom>
          <a:solidFill>
            <a:srgbClr val="D6E6F5"/>
          </a:solidFill>
          <a:ln>
            <a:solidFill>
              <a:srgbClr val="0B2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Blue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Primary design
surface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2011680"/>
            <a:ext cx="2926080" cy="640080"/>
          </a:xfrm>
          <a:prstGeom prst="roundRect">
            <a:avLst/>
          </a:prstGeom>
          <a:solidFill>
            <a:srgbClr val="F2F4F7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555555"/>
                </a:solidFill>
                <a:latin typeface="Calibri"/>
              </a:rPr>
              <a:t>Gray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Out of scope
app business logic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926080"/>
            <a:ext cx="2743200" cy="1234440"/>
          </a:xfrm>
          <a:prstGeom prst="roundRect">
            <a:avLst/>
          </a:prstGeom>
          <a:solidFill>
            <a:srgbClr val="D5F5E3"/>
          </a:solidFill>
          <a:ln>
            <a:solidFill>
              <a:srgbClr val="1E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1E844E"/>
                </a:solidFill>
                <a:latin typeface="Calibri"/>
              </a:rPr>
              <a:t>Dynatrace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Reuse — detect ingress
Keep problem URL in event
Test key for POC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2926080"/>
            <a:ext cx="2743200" cy="1234440"/>
          </a:xfrm>
          <a:prstGeom prst="roundRect">
            <a:avLst/>
          </a:prstGeom>
          <a:solidFill>
            <a:srgbClr val="FDE8D0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E67E22"/>
                </a:solidFill>
                <a:latin typeface="Calibri"/>
              </a:rPr>
              <a:t>PagerDuty Core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Modify — test Service/EP
Level-1 test schedule
Integration key hygiene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926080"/>
            <a:ext cx="2743200" cy="1234440"/>
          </a:xfrm>
          <a:prstGeom prst="roundRect">
            <a:avLst/>
          </a:prstGeom>
          <a:solidFill>
            <a:srgbClr val="D6E6F5"/>
          </a:solidFill>
          <a:ln>
            <a:solidFill>
              <a:srgbClr val="0B2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PagerDuty Advance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Primary — enable agents
AI Actions budget
Team Advance access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2926080"/>
            <a:ext cx="2651760" cy="1234440"/>
          </a:xfrm>
          <a:prstGeom prst="roundRect">
            <a:avLst/>
          </a:prstGeom>
          <a:solidFill>
            <a:srgbClr val="FDE8D0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E67E22"/>
                </a:solidFill>
                <a:latin typeface="Calibri"/>
              </a:rPr>
              <a:t>Teams / Slack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Modify — bot + linkUser
Graph consent (Teams)
Standard channel map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343400"/>
            <a:ext cx="2743200" cy="1097280"/>
          </a:xfrm>
          <a:prstGeom prst="roundRect">
            <a:avLst/>
          </a:prstGeom>
          <a:solidFill>
            <a:srgbClr val="D6E6F5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IT / IT Platform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Highlighted impact
IR tooling change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4343400"/>
            <a:ext cx="2743200" cy="1097280"/>
          </a:xfrm>
          <a:prstGeom prst="roundRect">
            <a:avLst/>
          </a:prstGeom>
          <a:solidFill>
            <a:srgbClr val="D6E6F5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Cloud / SaaS Ops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Monitoring-Alerting layer
Dynatrace + PD SaaS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343400"/>
            <a:ext cx="2743200" cy="1097280"/>
          </a:xfrm>
          <a:prstGeom prst="roundRect">
            <a:avLst/>
          </a:prstGeom>
          <a:solidFill>
            <a:srgbClr val="D5F5E3"/>
          </a:solidFill>
          <a:ln>
            <a:solidFill>
              <a:srgbClr val="1E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1E844E"/>
                </a:solidFill>
                <a:latin typeface="Calibri"/>
              </a:rPr>
              <a:t>Calendar (optional)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Google Calendar Ext.
for Shift conflicts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4343400"/>
            <a:ext cx="2651760" cy="1097280"/>
          </a:xfrm>
          <a:prstGeom prst="roundRect">
            <a:avLst/>
          </a:prstGeom>
          <a:solidFill>
            <a:srgbClr val="F2F4F7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555555"/>
                </a:solidFill>
                <a:latin typeface="Calibri"/>
              </a:rPr>
              <a:t>Business Apps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No code rewrite
for product agents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Dynatrace to PagerDuty Four AI Agents — Whole Pack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18 / 42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Alignment with Ops / IR Reference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11612880" cy="502920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15568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Using Dynatrace (detect) + PagerDuty Advance agents (assist) on the incident response path.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2C5C"/>
                </a:solidFill>
                <a:latin typeface="Calibri"/>
              </a:rPr>
              <a:t>Reference stack (design view)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103120"/>
            <a:ext cx="9418320" cy="685800"/>
          </a:xfrm>
          <a:prstGeom prst="roundRect">
            <a:avLst/>
          </a:prstGeom>
          <a:solidFill>
            <a:srgbClr val="F2F4F7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Channel / Users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On-call · Commander · Leadership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880360"/>
            <a:ext cx="9418320" cy="68580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UI / Chat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Microsoft Teams · Slack · PD web · Ops Console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657600"/>
            <a:ext cx="9418320" cy="685800"/>
          </a:xfrm>
          <a:prstGeom prst="roundRect">
            <a:avLst/>
          </a:prstGeom>
          <a:solidFill>
            <a:srgbClr val="FFF2CC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Assist (NEW)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SRE · Scribe · Shift · Insights  (PagerDuty Advance)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434840"/>
            <a:ext cx="9418320" cy="685800"/>
          </a:xfrm>
          <a:prstGeom prst="roundRect">
            <a:avLst/>
          </a:prstGeom>
          <a:solidFill>
            <a:srgbClr val="FDE8D0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Page / Incident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PagerDuty Service · Escalation · Schedule · Incident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5212080"/>
            <a:ext cx="9418320" cy="685800"/>
          </a:xfrm>
          <a:prstGeom prst="roundRect">
            <a:avLst/>
          </a:prstGeom>
          <a:solidFill>
            <a:srgbClr val="D5F5E3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Detect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Dynatrace Problems · optional Event Orchestration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D-PRA analogy: Partner/SaaS + Ops Monitoring-Alerting layer — agents sit in Assist, not in app API product layer.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Dynatrace to PagerDuty Four AI Agents — Whole Pack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19 / 42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Technical Infrastructure — HLD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11612880" cy="704088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15568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Dynatrace sends problems to PagerDuty; Advance agents attach to the incident and chat/meeting surfaces.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16736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Teams path needs Graph message-read for Advance; Shift full DMs prefer Slack.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011680"/>
            <a:ext cx="2286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Responder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Teams / Slack
linkUser · graphAuth*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383280"/>
            <a:ext cx="2286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Admin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PD AI Settings
MS Graph consent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4754880"/>
            <a:ext cx="2286000" cy="1005840"/>
          </a:xfrm>
          <a:prstGeom prst="roundRect">
            <a:avLst/>
          </a:prstGeom>
          <a:solidFill>
            <a:srgbClr val="F2F4F7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Calendar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Google Calendar Ext.
(Shift)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51760" y="2514600"/>
            <a:ext cx="411480" cy="201168"/>
          </a:xfrm>
          <a:prstGeom prst="rightArrow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2651760" y="3886200"/>
            <a:ext cx="411480" cy="201168"/>
          </a:xfrm>
          <a:prstGeom prst="rightArrow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00400" y="2011680"/>
            <a:ext cx="2926080" cy="1828800"/>
          </a:xfrm>
          <a:prstGeom prst="roundRect">
            <a:avLst/>
          </a:prstGeom>
          <a:solidFill>
            <a:srgbClr val="D6E6F5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PagerDuty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Service · Incident
Advance Agents
Analytics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4023360"/>
            <a:ext cx="2926080" cy="1371600"/>
          </a:xfrm>
          <a:prstGeom prst="roundRect">
            <a:avLst/>
          </a:prstGeom>
          <a:solidFill>
            <a:srgbClr val="F2F4F7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Optional EO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Event Orchestration
Alert Grouping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263640" y="2743200"/>
            <a:ext cx="411480" cy="201168"/>
          </a:xfrm>
          <a:prstGeom prst="rightArrow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66560" y="2011680"/>
            <a:ext cx="2468880" cy="1371600"/>
          </a:xfrm>
          <a:prstGeom prst="roundRect">
            <a:avLst/>
          </a:prstGeom>
          <a:solidFill>
            <a:srgbClr val="D5F5E3"/>
          </a:solidFill>
          <a:ln>
            <a:solidFill>
              <a:srgbClr val="1E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1E844E"/>
                </a:solidFill>
                <a:latin typeface="Calibri"/>
              </a:rPr>
              <a:t>Dynatrace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Problem / Davis
Notify → PD key
problem URL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0" y="3566160"/>
            <a:ext cx="2468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Apps / Infra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Checkout · hosts
DB · JVM (monitored)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0" y="2011680"/>
            <a:ext cx="2468880" cy="109728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Teams meeting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Scribe join
transcript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8320" y="3246120"/>
            <a:ext cx="2468880" cy="109728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Teams / Slack chat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@pagerduty asks
SRE · Insights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18320" y="4480560"/>
            <a:ext cx="2468880" cy="1097280"/>
          </a:xfrm>
          <a:prstGeom prst="roundRect">
            <a:avLst/>
          </a:prstGeom>
          <a:solidFill>
            <a:srgbClr val="FDE8D0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E67E22"/>
                </a:solidFill>
                <a:latin typeface="Calibri"/>
              </a:rPr>
              <a:t>PD web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SRE Agent tab
Schedules override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594360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* graphAuth only if tenant is Delegated-heavy. Prefer Application ChatMessage.Read.All for Advance.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Dynatrace to PagerDuty Four AI Agents — Whole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20 / 42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Agent Hub Detail — Four Agents on One Incident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11612880" cy="502920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15568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One Dynatrace-fed incident can use multiple agents; pick by job.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286000"/>
            <a:ext cx="3200400" cy="1463040"/>
          </a:xfrm>
          <a:prstGeom prst="roundRect">
            <a:avLst/>
          </a:prstGeom>
          <a:solidFill>
            <a:srgbClr val="FFF2CC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E67E22"/>
                </a:solidFill>
                <a:latin typeface="Calibri"/>
              </a:rPr>
              <a:t>PD Incident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from Dynatrace Problem
+ custom_details / problem URL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103120"/>
            <a:ext cx="3474720" cy="173736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SRE Agent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Summarize · runbook · past incidents
Next steps · human confirm
Cost: 4 Actions / ask
Teams EA + PD web tab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2103120"/>
            <a:ext cx="3657600" cy="173736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Scribe Agent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Join Teams/Zoom/Meet
Transcript + wrap-up → PIR
Cost: ~6/30m + 2
Human join ≤15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4114800"/>
            <a:ext cx="3474720" cy="1737360"/>
          </a:xfrm>
          <a:prstGeom prst="roundRect">
            <a:avLst/>
          </a:prstGeom>
          <a:solidFill>
            <a:srgbClr val="D5F5E3"/>
          </a:solidFill>
          <a:ln>
            <a:solidFill>
              <a:srgbClr val="1E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1E844E"/>
                </a:solidFill>
                <a:latin typeface="Calibri"/>
              </a:rPr>
              <a:t>Shift Agent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Level-1 OOO conflict
Slack DM coverage OR
Path B: Calendar + web override
Cost: 0 Actions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4114800"/>
            <a:ext cx="3657600" cy="1737360"/>
          </a:xfrm>
          <a:prstGeom prst="roundRect">
            <a:avLst/>
          </a:prstGeom>
          <a:solidFill>
            <a:srgbClr val="D5F5E3"/>
          </a:solidFill>
          <a:ln>
            <a:solidFill>
              <a:srgbClr val="1E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1E844E"/>
                </a:solidFill>
                <a:latin typeface="Calibri"/>
              </a:rPr>
              <a:t>Insights Agent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MTTR / MTTA / volume Q&amp;A
Sanity-check Analytics UI
Weekly tips: Slack-first
Cost: 0 Actions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4114800"/>
            <a:ext cx="320040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0B2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Human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Owns blast radius
Approve remediations
Resolve → SRE 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Dynatrace to PagerDuty Four AI Agents — Whole Pack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21 / 42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Design Checklist — Before / During POC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960120"/>
            <a:ext cx="115214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Detect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Dynatrace → PD test Integration Key only; problem URL in payload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463040"/>
            <a:ext cx="11521440" cy="475488"/>
          </a:xfrm>
          <a:prstGeom prst="roundRect">
            <a:avLst/>
          </a:prstGeom>
          <a:solidFill>
            <a:srgbClr val="F2F4F7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Noise (optional)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Event Orchestration / grouping if alert storms exist (see seq 7)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965960"/>
            <a:ext cx="115214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Advance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AI Settings → Teams/Slack Connected → SRE/Scribe/Insights(+Shift) Enabled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2468880"/>
            <a:ext cx="11521440" cy="475488"/>
          </a:xfrm>
          <a:prstGeom prst="roundRect">
            <a:avLst/>
          </a:prstGeom>
          <a:solidFill>
            <a:srgbClr val="F2F4F7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Identity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Each POC user: linkUser; graphAuth if Delegated-heavy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2971800"/>
            <a:ext cx="115214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Safe target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poc-pd-ai-agents-test Service; EP pages only you; poc-shift-agent Level-1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474720"/>
            <a:ext cx="11521440" cy="475488"/>
          </a:xfrm>
          <a:prstGeom prst="roundRect">
            <a:avLst/>
          </a:prstGeom>
          <a:solidFill>
            <a:srgbClr val="F2F4F7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SRE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Runbook ≤100 KB; confirm remediations; Resolve to save memory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977640"/>
            <a:ext cx="115214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Scribe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Meeting ≤10 min POC; warn attendees; lobby admit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4480560"/>
            <a:ext cx="11521440" cy="475488"/>
          </a:xfrm>
          <a:prstGeom prst="roundRect">
            <a:avLst/>
          </a:prstGeom>
          <a:solidFill>
            <a:srgbClr val="F2F4F7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Shift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Teams-only → Path B web+Calendar; do not claim Slack DM worked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4983480"/>
            <a:ext cx="115214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Insights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Ask in Teams; document weekly DM Slack gap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5486400"/>
            <a:ext cx="11521440" cy="475488"/>
          </a:xfrm>
          <a:prstGeom prst="roundRect">
            <a:avLst/>
          </a:prstGeom>
          <a:solidFill>
            <a:srgbClr val="F2F4F7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Board pack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Pair this diagram PPT with seq 14 architecture md + seq 13 narrative PPT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Dynatrace to PagerDuty Four AI Agents — Whole Pack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22 / 42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67E22"/>
                </a:solidFill>
                <a:latin typeface="Calibri"/>
              </a:rPr>
              <a:t>PART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Teams-Only POC Runbook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6E6F5"/>
                </a:solidFill>
                <a:latin typeface="Calibri"/>
              </a:rPr>
              <a:t>• From seq 17 — detailed Teams-only click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6E6F5"/>
                </a:solidFill>
                <a:latin typeface="Calibri"/>
              </a:rPr>
              <a:t>• §0 shared enablement, then SRE → Scribe → Shift →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23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6E6F5"/>
                </a:solidFill>
                <a:latin typeface="Calibri"/>
              </a:rPr>
              <a:t>• Honest Slack-first gaps documented for Shift DMs and Insights weekly DMs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Dynatrace to PagerDuty Four AI Agents — Whole Pack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23 / 42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12880" cy="786384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5953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60704"/>
            <a:ext cx="11338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One ordered Teams-only runbook for all four named Advance agents.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61872"/>
            <a:ext cx="11338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Do shared enablement once, then prove SRE → Scribe → Shift (alt) → Insights.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828800"/>
          <a:ext cx="11429999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200400"/>
                <a:gridCol w="7498079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Section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Focus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Decision tree + gate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Which agent; Advance + Admins required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§0 Shared enablement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Teams app, Graph, Advance, linkUser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§1 SRE Agent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Triage / runbook / next steps in Teams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§2 Scribe Agent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Teams meeting transcript + summary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§3 Shift Agent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Honest gap; Path A / Path B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§4 Insights Agent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MTTR Q&amp;A in Teams; weekly DM gap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Cheat sheet + schedule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Cost, surfaces, afternoon plan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Dynatrace to PagerDuty Four AI Agents — Whole Pack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24 / 42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Decision Tree — Which Agent to Prove?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12880" cy="585216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5953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60704"/>
            <a:ext cx="11338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Pick the agent by the job you need. Shift and Insights weekly DMs have Teams gaps.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481328"/>
            <a:ext cx="5577840" cy="105156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Active triage / RCA / runbook?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→ 1) SRE Agent (Teams Early Access)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81328"/>
            <a:ext cx="5669280" cy="105156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Bridge notes / PIR draft?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→ 2) Scribe Agent (Teams meeting + chat)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2670048"/>
            <a:ext cx="5577840" cy="1417320"/>
          </a:xfrm>
          <a:prstGeom prst="roundRect">
            <a:avLst/>
          </a:prstGeom>
          <a:solidFill>
            <a:srgbClr val="FDE8D0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E67E22"/>
                </a:solidFill>
                <a:latin typeface="Calibri"/>
              </a:rPr>
              <a:t>On-call OOO / coverage?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→ 3) Shift Agent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Slack DMs needed for full path?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YES → Path B (web + Calendar)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Best-effort → Path A (Advance ask)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670048"/>
            <a:ext cx="5669280" cy="1417320"/>
          </a:xfrm>
          <a:prstGeom prst="roundRect">
            <a:avLst/>
          </a:prstGeom>
          <a:solidFill>
            <a:srgbClr val="FDE8D0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E67E22"/>
                </a:solidFill>
                <a:latin typeface="Calibri"/>
              </a:rPr>
              <a:t>Ops health / MTTR / trends?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→ 4) Insights Agent (Teams chat)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Weekly proactive maturity DMs?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Slack-only today → document gap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4224528"/>
            <a:ext cx="11475720" cy="914400"/>
          </a:xfrm>
          <a:prstGeom prst="roundRect">
            <a:avLst/>
          </a:prstGeom>
          <a:solidFill>
            <a:srgbClr val="FFF2CC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E67E22"/>
                </a:solidFill>
                <a:latin typeface="Calibri"/>
              </a:rPr>
              <a:t>Always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TEST service + Level-1 TEST schedule — never prod pages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Dynatrace to PagerDuty Four AI Agents — Whole Pack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25 / 42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Shared Gate — Do Once Before Any POC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12880" cy="585216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5953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60704"/>
            <a:ext cx="11338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Without Advance + both Admins, stop. Then run §0, then POC 1→2→3→4.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828800"/>
            <a:ext cx="3657600" cy="2011680"/>
          </a:xfrm>
          <a:prstGeom prst="roundRect">
            <a:avLst/>
          </a:prstGeom>
          <a:solidFill>
            <a:srgbClr val="D5F5E3"/>
          </a:solidFill>
          <a:ln>
            <a:solidFill>
              <a:srgbClr val="1E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1E844E"/>
                </a:solidFill>
                <a:latin typeface="Calibri"/>
              </a:rPr>
              <a:t>Have PagerDuty Advance?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NO → Sales / trial first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YES → continue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828800"/>
            <a:ext cx="3657600" cy="2011680"/>
          </a:xfrm>
          <a:prstGeom prst="roundRect">
            <a:avLst/>
          </a:prstGeom>
          <a:solidFill>
            <a:srgbClr val="FDE8D0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E67E22"/>
                </a:solidFill>
                <a:latin typeface="Calibri"/>
              </a:rPr>
              <a:t>PD Admin + MS Admin?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NO → stop; need both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(Graph + AI Settings)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YES → §0 Shared enablement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828800"/>
            <a:ext cx="3566160" cy="201168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Then run in order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1 SRE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2 Scribe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3 Shift (alt)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4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114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C5C"/>
                </a:solidFill>
                <a:latin typeface="Calibri"/>
              </a:rPr>
              <a:t>Safe demo 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72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• Dedicated test Service (example: poc-pd-ai-agents-test)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92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• Escalation on that service must notify only 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212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Calibri"/>
              </a:rPr>
              <a:t>• Never attach a production primary schedule for Shift POC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Dynatrace to PagerDuty Four AI Agents — Whole Pack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26 / 42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Short Takeaway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005840"/>
          <a:ext cx="1152144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59536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Key point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Detail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What this deck is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Ordered Teams-only runbook for all four named AI agents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Builds 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2026-08-25 seq 9 (agents) + seq 10 (Teams permissions)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Full Teams POC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SRE, Scribe, Insights conversational chat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Partial / alternate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Shift — Slack-first; use Path B or Path 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Insights weekly DMs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Still Slack-first; Teams covers on-demand Q&amp;A only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Who spends AI Actions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SRE and Scribe consume; Shift and Insights usually 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Safe demo rule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Test Service + escalation that pages only you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Dynatrace to PagerDuty Four AI Agents — Whole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27 / 42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§0 Shared Teams Enablement — Prerequisites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12880" cy="585216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5953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60704"/>
            <a:ext cx="11338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Do this once. Reuse for all four POCs. Graph scope detail lives in seq 10.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737360"/>
          <a:ext cx="1161288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572000"/>
                <a:gridCol w="429768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Need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means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Why you care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PagerDuty Advance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Paid AI platform + AI Actions budget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Without it, agent toggles do nothing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PD Admin / Owner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Can open AI Settings and authorize Teams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Turns agents and chat 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Microsoft / Teams Admin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Consent Graph; allow third-party apps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Bot cannot read chats or create meetings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One standard Teams channel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Not private or shared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PD app does not support private/shared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Test Service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e.g. poc-pd-ai-agents-test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Fake incidents stay off prod rotations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Linked users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Each POC person runs linkUser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Actions and auto-add need identity map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Dynatrace to PagerDuty Four AI Agents — Whole Pack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28 / 42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§0 Enablement Steps (1–5)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12880" cy="585216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5953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60704"/>
            <a:ext cx="11338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Admins wire Teams app, Graph consent, and the test Service mapping first.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691640"/>
            <a:ext cx="115214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1. Teams Admin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Allow PagerDuty (or PagerDuty EU) third-party app so users can install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2560320"/>
            <a:ext cx="11521440" cy="822960"/>
          </a:xfrm>
          <a:prstGeom prst="roundRect">
            <a:avLst/>
          </a:prstGeom>
          <a:solidFill>
            <a:srgbClr val="F2F4F7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2. Install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In Teams: install PagerDuty → Add to a team → pick your one POC team.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429000"/>
            <a:ext cx="115214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3. PD Authorize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Complete the PagerDuty Authorize flow for that team connection.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4297680"/>
            <a:ext cx="11521440" cy="822960"/>
          </a:xfrm>
          <a:prstGeom prst="roundRect">
            <a:avLst/>
          </a:prstGeom>
          <a:solidFill>
            <a:srgbClr val="F2F4F7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4. Graph consent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MS Admin accepts Application and/or Delegated scopes (or bot appconnect). Prefer ChatMessage.Read.All (+/or ChatMessage.Read). Prefer User.ReadBasic.All over User.Read.All.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5166360"/>
            <a:ext cx="115214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5. Map service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Connect channel ↔ Service poc-pd-ai-agents-test. Escalation must notify only you.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Dynatrace to PagerDuty Four AI Agents — Whole Pack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29 / 42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§0 Enablement Steps (6–10)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12880" cy="585216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5953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60704"/>
            <a:ext cx="11338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Turn Advance chat on, enable agents, link each user, optionally unblock Scribe lobby.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691640"/>
            <a:ext cx="11521440" cy="822960"/>
          </a:xfrm>
          <a:prstGeom prst="roundRect">
            <a:avLst/>
          </a:prstGeom>
          <a:solidFill>
            <a:srgbClr val="F2F4F7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6. Advance chat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PD web → AI → AI Settings → Assistant and AI Agents → Chat Integrations → Teams Connected → toggle Teams On / Enabled.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2560320"/>
            <a:ext cx="115214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7. Enable agents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Under AI Agents: SRE, Scribe, Insights = Enabled. Enable Shift only if you want Path A; full Shift DMs need Slack.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429000"/>
            <a:ext cx="11521440" cy="822960"/>
          </a:xfrm>
          <a:prstGeom prst="roundRect">
            <a:avLst/>
          </a:prstGeom>
          <a:solidFill>
            <a:srgbClr val="F2F4F7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8. Scope Advance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Optional but smart: limit Advance access to one PD team that owns the test Service.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4297680"/>
            <a:ext cx="115214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9. linkUser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Each POC user: Teams chat with PagerDuty bot → @PagerDuty linkUser. If Delegated-heavy, also run graphAuth.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5166360"/>
            <a:ext cx="11521440" cy="822960"/>
          </a:xfrm>
          <a:prstGeom prst="roundRect">
            <a:avLst/>
          </a:prstGeom>
          <a:solidFill>
            <a:srgbClr val="F2F4F7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10. Scribe lobby (optional)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MS Admin may set New-CsApplicationAccessPolicy (US AppId 05ffe668-… or EU 8f79a561-…) and allow Scribe past lobby.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Dynatrace to PagerDuty Four AI Agents — Whole Pack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30 / 42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§0 Success Criteria and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14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C5C"/>
                </a:solidFill>
                <a:latin typeface="Calibri"/>
              </a:rPr>
              <a:t>Success (pass if)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234440"/>
          <a:ext cx="566928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84048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Pass if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App present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PagerDuty bot responds in the POC team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Graph OK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 UPDATE AVAILABLE blocking Advance features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Advance Teams On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AI Settings shows Teams Connected / Enabled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Agents 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SRE, Scribe, Insights show Enabled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Identity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Your PD user is linked (linkUser done)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Safe target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Test Service maps to POC channel; only you get pages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309360" y="914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C5C"/>
                </a:solidFill>
                <a:latin typeface="Calibri"/>
              </a:rPr>
              <a:t>Safety rules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309360" y="1234440"/>
          <a:ext cx="54864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One team, one channel, one test Service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Limits blast radius and Graph surface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Standard channel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Private/shared channels unsupported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 prod escalation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Prevents waking the real rotation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Prefer User.ReadBasic.All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Least privilege for POC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20040" y="5029200"/>
            <a:ext cx="11521440" cy="1097280"/>
          </a:xfrm>
          <a:prstGeom prst="roundRect">
            <a:avLst/>
          </a:prstGeom>
          <a:solidFill>
            <a:srgbClr val="D5F5E3"/>
          </a:solidFill>
          <a:ln>
            <a:solidFill>
              <a:srgbClr val="1E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1E844E"/>
                </a:solidFill>
                <a:latin typeface="Calibri"/>
              </a:rPr>
              <a:t>AI Actions for §0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0 for enablement itself. Spend starts when you ask SRE or run Scribe.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Dynatrace to PagerDuty Four AI Agents — Whole Pack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31 / 42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§1 SRE Agent POC — Goal and Prerequisites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12880" cy="786384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5953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60704"/>
            <a:ext cx="11338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Prove SRE summarizes a TEST incident in Teams, uses a small runbook, and suggests next steps.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61872"/>
            <a:ext cx="11338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Human approval required before any remediation. Teams SRE is Early Access.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828800"/>
          <a:ext cx="1152144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59536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Need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Detail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§0 complete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Advance Teams Enabled; SRE Enabled; linkUser done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Teams Early Access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Confirm your account has SRE Agent in MS Teams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Test Service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poc-pd-ai-agents-test mapped to the POC channel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Runbook file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One .md or .txt under 100 KB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Optional connectors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Grafana, Datadog, New Relic, CloudWatch, Confluence, GitHub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Optional UI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Incident SRE Agent tab in PD web; Ops Console needs AIOps + Advance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Dynatrace to PagerDuty Four AI Agents — Whole Pack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32 / 42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§1 SRE Agent — Click / Say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1. Optional: AI Settings → SRE Agent → add ONE connector you use (Dynatrace creates incidents; usually not the main SRE connector list).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0759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2. Prepare runbook poc-checkout-latency.md with 5–10 clear steps.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4650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3. Create a low-risk test incident on poc-pd-ai-agents-test (UI Create incident). No prod routing key.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1854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4. Open the mapped Teams channel. Confirm the incident card appears.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2432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5. Type: @pagerduty What are some likely root causes?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0632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6. Upload / update runbook when offered (or use PD web Incident → SRE Agent tab).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50215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7. Ask: @pagerduty Analyze past incidents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94106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8. Ask: @pagerduty What steps should I take first?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37997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9. If remediation suggested: read it, then approve or decline. Do not auto-run against prod.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81888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10. Optional: PD web / Ops Console SRE Agent tab.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25780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11. Resolve the test incident so service memory can save learnings.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Dynatrace to PagerDuty Four AI Agents — Whole Pack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33 / 42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§1 SRE Agent — Success, Safety, Cost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960120"/>
          <a:ext cx="115214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96112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Pass if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Triage reply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Agent posts a grounded summary in Teams (or web tab)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Runbook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 later answer references your uploaded steps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Human control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No remediation ran without an explicit confirm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Memory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After resolve, a later ask on the same service feels more specific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3200400"/>
          <a:ext cx="1152144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804672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Safety rule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Test Service only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Avoids waking the real rotation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Confirm before remediations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Agent suggests; humans own blast radius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Fact-check log/change claims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AI can be wrong; verify in monitoring / deploy tools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Cap custom details noise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Only first ~2,000 characters of custom details are analyzed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No customer PII in the question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Teams channel members can see replies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20040" y="5669280"/>
            <a:ext cx="11521440" cy="640080"/>
          </a:xfrm>
          <a:prstGeom prst="roundRect">
            <a:avLst/>
          </a:prstGeom>
          <a:solidFill>
            <a:srgbClr val="FFF2CC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E67E22"/>
                </a:solidFill>
                <a:latin typeface="Calibri"/>
              </a:rPr>
              <a:t>AI Actions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4 AI Actions per chat ask or nudge click (also via Incident Workflow / Escalation virtual responder).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Dynatrace to PagerDuty Four AI Agents — Whole Pack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34 / 42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§2 Scribe Agent POC — Teams Meeting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12880" cy="786384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5953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60704"/>
            <a:ext cx="11338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Prove Scribe joins a short Teams meeting on a test incident, streams transcript, posts wrap-up.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61872"/>
            <a:ext cx="11338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Keep POC meeting under ~10 minutes. Human must join within 15 minutes for auto-join.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73736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1. Confirm Scribe Agent Enabled (US often needs manual toggle; EU may default on).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121408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2. Optional: Incident Workflow step Add Scribe Agent on the test Service.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505456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3. Create test incident on poc-pd-ai-agents-test.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889504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4. Create/open a short Teams meeting. Copy join URL (include passcode if required).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273552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5. Paste conference URL onto the incident conference / meeting field in PagerDuty.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65760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6. Open linked Teams incident channel or chat.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041648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7. Wait for auto-join OR type: @PagerDuty advance scribe → Add Scribe Agent to meeting → confirm URL.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4425696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8. Join yourself within 15 minutes. Admit Scribe if in lobby.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9744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9. Speak 2–3 clear sentences: symptom, suspected cause, decision.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5193792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10. End meeting. Confirm transcript activity and post-meeting summary.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557784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11. Optional: ask Advance for Post-Incident Review draft. Resolve test incident.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Dynatrace to PagerDuty Four AI Agents — Whole Pack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35 / 42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§2 Scribe Agent — Success, Safety, Cost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960120"/>
          <a:ext cx="115214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23544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Pass if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Join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Scribe appears in the Teams meeting (or joins per product rules)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Transcript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Teams chat or internal capture shows spoken content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Summary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Wrap-up lists decisions, actions, attendees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PIR helper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Later PIR / status draft can reuse bridge context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3200400"/>
          <a:ext cx="1152144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86384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Safety rule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Test incident + short meeting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Avoids recording a real customer bridge by accident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Warn attendees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People should know the call is transcribed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One Scribe per meeting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Product limit; do not double-add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Cap concurrent meetings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Up to 10 concurrent Scribe meetings account-wide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Keep POC under ~10 minutes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Limits AI Actions spend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20040" y="5669280"/>
            <a:ext cx="11521440" cy="640080"/>
          </a:xfrm>
          <a:prstGeom prst="roundRect">
            <a:avLst/>
          </a:prstGeom>
          <a:solidFill>
            <a:srgbClr val="FFF2CC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E67E22"/>
                </a:solidFill>
                <a:latin typeface="Calibri"/>
              </a:rPr>
              <a:t>AI Actions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~6 per 30 minutes of bridge + ~2 when the final summary posts.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Dynatrace to PagerDuty Four AI Agents — Whole Pack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36 / 42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§3 Shift Agent — Honest Teams-Only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12880" cy="585216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5953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60704"/>
            <a:ext cx="11338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Do not claim full Request coverage → teammate accepts in Teams DM. That path is Slack-first.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737360"/>
          <a:ext cx="1152144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32104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Fact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means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Slack-first product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Docs/pricing describe Shift with Slack; conflict and coverage notifications wire to Slack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Teams-only gap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Full coverage accept automation in Teams DMs is not expected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Still give a step path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Use Path A (best-effort) or Path B (recommended: web + Calendar)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20040" y="3931920"/>
            <a:ext cx="5577840" cy="2011680"/>
          </a:xfrm>
          <a:prstGeom prst="roundRect">
            <a:avLst/>
          </a:prstGeom>
          <a:solidFill>
            <a:srgbClr val="FDE8D0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E67E22"/>
                </a:solidFill>
                <a:latin typeface="Calibri"/>
              </a:rPr>
              <a:t>Path A — best-effort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Ask Advance in Teams about OOO conflict.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Manual override in PD web.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Mark result: partial pass.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931920"/>
            <a:ext cx="5669280" cy="2011680"/>
          </a:xfrm>
          <a:prstGeom prst="roundRect">
            <a:avLst/>
          </a:prstGeom>
          <a:solidFill>
            <a:srgbClr val="D5F5E3"/>
          </a:solidFill>
          <a:ln>
            <a:solidFill>
              <a:srgbClr val="1E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1E844E"/>
                </a:solidFill>
                <a:latin typeface="Calibri"/>
              </a:rPr>
              <a:t>Path B — recommended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Document Slack DM POC deferred.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Google Calendar Extension + OOO block.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PD web schedule override + history.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Dynatrace to PagerDuty Four AI Agents — Whole Pack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37 / 42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§3 Shift Path B — Recommended Steps (Teams-Only)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12880" cy="585216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5953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60704"/>
            <a:ext cx="11338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Prove OOO vs on-call conflict handling with Calendar + web override. Defer full Slack DMs.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37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1. Document: Full Shift Agent Slack DM POC deferred — Teams-only org.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945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2. Create test schedule poc-shift-agent with you primary on a known near-term window.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51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3. Attach it to Level 1 of a test escalation policy (not prod).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1089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4. Admin enables Google Calendar Extension; you authorize calendar.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5661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5. Create an OOO block that overlaps the on-call window.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023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6. In PagerDuty web, open the schedule and confirm conflict / overlap is visible.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4805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7. Create a schedule override for the coverage person for that window.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937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8. Confirm the override appears in schedule history.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3949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9. Optional later: when Slack exists, re-run full Request coverage → accept DM POC.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Dynatrace to PagerDuty Four AI Agents — Whole Pack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38 / 42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§3 Shift Path A + Success / Safety /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68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2C5C"/>
                </a:solidFill>
                <a:latin typeface="Calibri"/>
              </a:rPr>
              <a:t>Path A (best-effort)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88720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Enable Shift toggle; Level-1 test schedule; Calendar Extension recommended.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8132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Block OOO overlapping your window.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773936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Ask in Teams: I am on vacation &lt;date&gt;. Do I have a conflict?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066544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If Request coverage appears, teammate accept may still need Slack.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359152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Always close with a manual schedule override in PD web.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017520"/>
          <a:ext cx="1152144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87552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Path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Pass if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Path A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Conflict language visible in chat OR documented miss; override written manually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Path 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OOO vs on-call handled with Calendar + web override; Slack path explicitly deferred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Safety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No overrides written to a production primary schedule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20040" y="4846320"/>
            <a:ext cx="11521440" cy="1280160"/>
          </a:xfrm>
          <a:prstGeom prst="roundRect">
            <a:avLst/>
          </a:prstGeom>
          <a:solidFill>
            <a:srgbClr val="D5F5E3"/>
          </a:solidFill>
          <a:ln>
            <a:solidFill>
              <a:srgbClr val="1E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1E844E"/>
                </a:solidFill>
                <a:latin typeface="Calibri"/>
              </a:rPr>
              <a:t>Safety + cost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Test schedule / test EP only. Tell the candidate it is a POC. Level-1 only by design. Do not claim Teams DM coverage worked.</a:t>
            </a:r>
          </a:p>
          <a:p>
            <a:r>
              <a:rPr sz="1000" b="0">
                <a:solidFill>
                  <a:srgbClr val="555555"/>
                </a:solidFill>
                <a:latin typeface="Calibri"/>
              </a:rPr>
              <a:t>AI Actions = 0 for Shift and for manual web overrides.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Dynatrace to PagerDuty Four AI Agents — Whole Pack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39 / 42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§4 Insights Agent — Conversational in Teams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11612880" cy="786384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5953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60704"/>
            <a:ext cx="11338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Prove Insights answers MTTR / MTTA / volume questions inside Microsoft Teams.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61872"/>
            <a:ext cx="11338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Weekly proactive maturity DMs remain Slack-first — document that gap.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7373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1. Confirm Insights Agent Enabled.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194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2. Pick one Team/Service you own with real history (sanity-checkable).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6517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3. Open POC Teams channel (or Advance chat).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1089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4. Ask: @pagerduty How many high urgency incidents were there last week on &lt;ServiceOrTeam&gt;?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5661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5. Ask: @pagerduty How has the average time to resolve changed over the past 6 complete months for &lt;Team&gt;?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40233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6. Ask: @pagerduty Was MTTA faster this month than last month for &lt;Service&gt;?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480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7. Compare each answer to Analytics in the PagerDuty web UI.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49377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8. Optional: Rate AI Response. Document weekly DM Slack gap. Apply any config tips on TEST first.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Dynatrace to PagerDuty Four AI Agents — Whole Pack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40 / 42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§4 Insights Success + Cost / Surface Cheat Sheet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14400"/>
          <a:ext cx="116128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86968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Pass if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Chat answer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Number or trend tied to your Team/Service in Teams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Sanity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Roughly matches Analytics UI for the same filter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Visibility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Channel members can see the @pagerduty reply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DM gap documented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Notes state weekly proactive DMs are Slack-first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3383280"/>
          <a:ext cx="116128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572000"/>
                <a:gridCol w="2194560"/>
                <a:gridCol w="338328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Agent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Teams-only demo surface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AI Actions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Honest note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SRE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Teams @pagerduty ask; optional PD web tab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 per ask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Early Access in Teams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Scribe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Teams meeting URL + advance scribe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~6/30m + ~2 summary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Strongest Teams-only fit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Shift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Path A ask; Path B web + Calendar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Full coverage DMs need Slack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Insights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Teams @pagerduty analytics Q&amp;A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Weekly maturity DMs Slack-first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Dynatrace to PagerDuty Four AI Agents — Whole Pack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41 / 42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Afternoon Plan + Data Flow + Commands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868680"/>
          <a:ext cx="640080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200400"/>
                <a:gridCol w="228600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Order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Block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Time box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Shared Teams enablement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30–60 min (Admins)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SRE Agent POC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15–20 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Scribe Agent POC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15–20 min (meeting ≤10 min)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Shift Path B (or Path 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10–15 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Insights conversational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10–15 min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858000" y="868680"/>
            <a:ext cx="4937760" cy="274320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1200" b="1">
                <a:solidFill>
                  <a:srgbClr val="0B2C5C"/>
                </a:solidFill>
                <a:latin typeface="Calibri"/>
              </a:rPr>
              <a:t>Data flow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§0 Graph + Authorize + linkUser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→ 1 SRE triage in Teams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→ 2 Scribe on Teams meeting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→ 3 Shift Path B (web/Calendar)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→ 4 Insights Q&amp;A in Teams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Weekly DMs = Slack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840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2C5C"/>
                </a:solidFill>
                <a:latin typeface="Calibri"/>
              </a:rPr>
              <a:t>Type in Teams (not shell)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16052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@PagerDuty linkUser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48056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graphAuth   (if Delegated-heavy)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8006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@pagerduty What are some likely root causes?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1206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@PagerDuty advance scribe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44068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@pagerduty How has the average time to resolve changed over the past 6 complete months for &lt;Team&gt;?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Dynatrace to PagerDuty Four AI Agents — Whole Pack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37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42 / 42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