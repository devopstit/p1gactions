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business picture for the 24x7 war room. Read it like the EIP page: zones as boxes, PagerDuty as the hub, a label on every line. The detection zone provides the signal. Each tool keeps its current owner. PagerDuty already creates the incident, places the call and SMS, and runs the escalation policy. BAM-India consumes the page and escalates. Technology SREs and Application Support consume the briefing in Teams. PagerDuty AI is the thicker orange box. It writes a catch-up, a status draft, or a bridge note. A person checks the text, then acts in PagerDuty. ServiceNow and Silva are the correlation after that. Shift is not drawn. If the assist is down, the incident and the escalation policy still run. This uses the EIP layout. The EIP mediators stay on the EIP page.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path as the architecture slide, drawn as data. Use case: 24x7 critical-incident catch-up in Microsoft Teams, for ALJ and ADJ (P&amp;C), after PagerDuty has opened the incident. Step 1 is the detector: service name, alert text, problem id. Step 2 is the incident. Red dot is the assignee display name. The on-call phone stays in the notification and is not prompt text. Step 3 is the Teams question. Red dot is the asker’s Teams identity. At most one technical line is pasted. Step 4 is PagerDuty AI: SRE catch-up, Scribe note from bridge audio, Insights only if enabled. Step 5 is text back in Teams. Red dot if a spoken name is repeated. Step 6: a person checks the text, acts in PagerDuty, and files ServiceNow / Silva. The assist does not write that hop. Customer date of birth, My Number, financial fields, and health fields are not on this picture.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73152"/>
            <a:ext cx="9326880" cy="384048"/>
          </a:xfrm>
          <a:prstGeom prst="rect">
            <a:avLst/>
          </a:prstGeom>
          <a:noFill/>
        </p:spPr>
        <p:txBody>
          <a:bodyPr wrap="square" lIns="36576" rIns="36576" tIns="18288" bIns="18288" anchor="t"/>
          <a:lstStyle/>
          <a:p>
            <a:pPr algn="l">
              <a:spcBef>
                <a:spcPts val="0"/>
              </a:spcBef>
              <a:spcAft>
                <a:spcPts val="0"/>
              </a:spcAft>
            </a:pPr>
            <a:r>
              <a:rPr sz="2600" b="1">
                <a:solidFill>
                  <a:srgbClr val="FFFFFF"/>
                </a:solidFill>
                <a:latin typeface="Calibri"/>
              </a:rPr>
              <a:t>Proposed Business Architecture</a:t>
            </a:r>
          </a:p>
        </p:txBody>
      </p:sp>
      <p:sp>
        <p:nvSpPr>
          <p:cNvPr id="5" name="TextBox 4"/>
          <p:cNvSpPr txBox="1"/>
          <p:nvPr/>
        </p:nvSpPr>
        <p:spPr>
          <a:xfrm>
            <a:off x="310896" y="438912"/>
            <a:ext cx="9509760" cy="329184"/>
          </a:xfrm>
          <a:prstGeom prst="rect">
            <a:avLst/>
          </a:prstGeom>
          <a:noFill/>
        </p:spPr>
        <p:txBody>
          <a:bodyPr wrap="square" lIns="36576" rIns="36576" tIns="18288" bIns="18288" anchor="t"/>
          <a:lstStyle/>
          <a:p>
            <a:pPr algn="l">
              <a:spcBef>
                <a:spcPts val="0"/>
              </a:spcBef>
              <a:spcAft>
                <a:spcPts val="0"/>
              </a:spcAft>
            </a:pPr>
            <a:r>
              <a:rPr sz="1300" b="0">
                <a:solidFill>
                  <a:srgbClr val="D6E4F0"/>
                </a:solidFill>
                <a:latin typeface="Calibri"/>
              </a:rPr>
              <a:t>24x7 war-room assist for ALJ and ADJ (P&amp;C). The critical event already exists.</a:t>
            </a:r>
          </a:p>
        </p:txBody>
      </p:sp>
      <p:sp>
        <p:nvSpPr>
          <p:cNvPr id="6" name="TextBox 5"/>
          <p:cNvSpPr txBox="1"/>
          <p:nvPr/>
        </p:nvSpPr>
        <p:spPr>
          <a:xfrm>
            <a:off x="9692640" y="201168"/>
            <a:ext cx="2194560" cy="457200"/>
          </a:xfrm>
          <a:prstGeom prst="rect">
            <a:avLst/>
          </a:prstGeom>
          <a:noFill/>
        </p:spPr>
        <p:txBody>
          <a:bodyPr wrap="square" lIns="36576" rIns="36576" tIns="18288" bIns="18288" anchor="t"/>
          <a:lstStyle/>
          <a:p>
            <a:pPr algn="r">
              <a:spcBef>
                <a:spcPts val="0"/>
              </a:spcBef>
              <a:spcAft>
                <a:spcPts val="0"/>
              </a:spcAft>
            </a:pPr>
            <a:r>
              <a:rPr sz="1400" b="1">
                <a:solidFill>
                  <a:srgbClr val="FFFFFF"/>
                </a:solidFill>
                <a:latin typeface="Calibri"/>
              </a:rPr>
              <a:t>Gate 0</a:t>
            </a:r>
          </a:p>
          <a:p>
            <a:pPr algn="r">
              <a:spcBef>
                <a:spcPts val="0"/>
              </a:spcBef>
              <a:spcAft>
                <a:spcPts val="0"/>
              </a:spcAft>
            </a:pPr>
            <a:r>
              <a:rPr sz="1100" b="0">
                <a:solidFill>
                  <a:srgbClr val="D6E4F0"/>
                </a:solidFill>
                <a:latin typeface="Calibri"/>
              </a:rPr>
              <a:t>Document 3.1</a:t>
            </a:r>
          </a:p>
        </p:txBody>
      </p:sp>
      <p:sp>
        <p:nvSpPr>
          <p:cNvPr id="7" name="Rounded Rectangle 6"/>
          <p:cNvSpPr/>
          <p:nvPr/>
        </p:nvSpPr>
        <p:spPr>
          <a:xfrm>
            <a:off x="201168" y="1024128"/>
            <a:ext cx="2971800" cy="5120640"/>
          </a:xfrm>
          <a:prstGeom prst="roundRect">
            <a:avLst>
              <a:gd name="adj" fmla="val 8000"/>
            </a:avLst>
          </a:prstGeom>
          <a:solidFill>
            <a:srgbClr val="E7F0F8"/>
          </a:solidFill>
          <a:ln w="19050">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9184" y="1133856"/>
            <a:ext cx="2724912" cy="4846320"/>
          </a:xfrm>
          <a:prstGeom prst="rect">
            <a:avLst/>
          </a:prstGeom>
          <a:noFill/>
        </p:spPr>
        <p:txBody>
          <a:bodyPr wrap="square" lIns="36576" rIns="36576" tIns="18288" bIns="18288" anchor="t"/>
          <a:lstStyle/>
          <a:p>
            <a:pPr algn="l">
              <a:spcBef>
                <a:spcPts val="0"/>
              </a:spcBef>
              <a:spcAft>
                <a:spcPts val="0"/>
              </a:spcAft>
            </a:pPr>
            <a:r>
              <a:rPr sz="1400" b="1">
                <a:solidFill>
                  <a:srgbClr val="0F2C4C"/>
                </a:solidFill>
                <a:latin typeface="Calibri"/>
              </a:rPr>
              <a:t>DETECTION ZONE</a:t>
            </a:r>
          </a:p>
          <a:p>
            <a:pPr algn="l">
              <a:spcBef>
                <a:spcPts val="200"/>
              </a:spcBef>
              <a:spcAft>
                <a:spcPts val="0"/>
              </a:spcAft>
            </a:pPr>
            <a:r>
              <a:rPr sz="1200" b="0">
                <a:solidFill>
                  <a:srgbClr val="0E6B5C"/>
                </a:solidFill>
                <a:latin typeface="Calibri"/>
              </a:rPr>
              <a:t>Providers of the signal</a:t>
            </a:r>
          </a:p>
          <a:p>
            <a:pPr algn="l">
              <a:spcBef>
                <a:spcPts val="800"/>
              </a:spcBef>
              <a:spcAft>
                <a:spcPts val="0"/>
              </a:spcAft>
            </a:pPr>
            <a:r>
              <a:rPr sz="1300" b="0">
                <a:solidFill>
                  <a:srgbClr val="374151"/>
                </a:solidFill>
                <a:latin typeface="Calibri"/>
              </a:rPr>
              <a:t>Dynatrace</a:t>
            </a:r>
          </a:p>
          <a:p>
            <a:pPr algn="l">
              <a:spcBef>
                <a:spcPts val="100"/>
              </a:spcBef>
              <a:spcAft>
                <a:spcPts val="0"/>
              </a:spcAft>
            </a:pPr>
            <a:r>
              <a:rPr sz="1300" b="0">
                <a:solidFill>
                  <a:srgbClr val="374151"/>
                </a:solidFill>
                <a:latin typeface="Calibri"/>
              </a:rPr>
              <a:t>Splunk</a:t>
            </a:r>
          </a:p>
          <a:p>
            <a:pPr algn="l">
              <a:spcBef>
                <a:spcPts val="100"/>
              </a:spcBef>
              <a:spcAft>
                <a:spcPts val="0"/>
              </a:spcAft>
            </a:pPr>
            <a:r>
              <a:rPr sz="1300" b="0">
                <a:solidFill>
                  <a:srgbClr val="374151"/>
                </a:solidFill>
                <a:latin typeface="Calibri"/>
              </a:rPr>
              <a:t>Selenium / Jenkins</a:t>
            </a:r>
          </a:p>
          <a:p>
            <a:pPr algn="l">
              <a:spcBef>
                <a:spcPts val="100"/>
              </a:spcBef>
              <a:spcAft>
                <a:spcPts val="0"/>
              </a:spcAft>
            </a:pPr>
            <a:r>
              <a:rPr sz="1300" b="0">
                <a:solidFill>
                  <a:srgbClr val="374151"/>
                </a:solidFill>
                <a:latin typeface="Calibri"/>
              </a:rPr>
              <a:t>VeloCloud, Nagios, Aruba UXI</a:t>
            </a:r>
          </a:p>
          <a:p>
            <a:pPr algn="l">
              <a:spcBef>
                <a:spcPts val="100"/>
              </a:spcBef>
              <a:spcAft>
                <a:spcPts val="0"/>
              </a:spcAft>
            </a:pPr>
            <a:r>
              <a:rPr sz="1300" b="0">
                <a:solidFill>
                  <a:srgbClr val="374151"/>
                </a:solidFill>
                <a:latin typeface="Calibri"/>
              </a:rPr>
              <a:t>SCOM</a:t>
            </a:r>
          </a:p>
          <a:p>
            <a:pPr algn="l">
              <a:spcBef>
                <a:spcPts val="100"/>
              </a:spcBef>
              <a:spcAft>
                <a:spcPts val="0"/>
              </a:spcAft>
            </a:pPr>
            <a:r>
              <a:rPr sz="1300" b="0">
                <a:solidFill>
                  <a:srgbClr val="374151"/>
                </a:solidFill>
                <a:latin typeface="Calibri"/>
              </a:rPr>
              <a:t>CloudWatch, X-Ray,</a:t>
            </a:r>
          </a:p>
          <a:p>
            <a:pPr algn="l">
              <a:spcBef>
                <a:spcPts val="0"/>
              </a:spcBef>
              <a:spcAft>
                <a:spcPts val="0"/>
              </a:spcAft>
            </a:pPr>
            <a:r>
              <a:rPr sz="1300" b="0">
                <a:solidFill>
                  <a:srgbClr val="374151"/>
                </a:solidFill>
                <a:latin typeface="Calibri"/>
              </a:rPr>
              <a:t>Prometheus, Kibana</a:t>
            </a:r>
          </a:p>
          <a:p>
            <a:pPr algn="l">
              <a:spcBef>
                <a:spcPts val="1000"/>
              </a:spcBef>
              <a:spcAft>
                <a:spcPts val="0"/>
              </a:spcAft>
            </a:pPr>
            <a:r>
              <a:rPr sz="1100" b="0">
                <a:solidFill>
                  <a:srgbClr val="1B4F72"/>
                </a:solidFill>
                <a:latin typeface="Calibri"/>
              </a:rPr>
              <a:t>Technology DevOps owns Dynatrace,</a:t>
            </a:r>
          </a:p>
          <a:p>
            <a:pPr algn="l">
              <a:spcBef>
                <a:spcPts val="0"/>
              </a:spcBef>
              <a:spcAft>
                <a:spcPts val="0"/>
              </a:spcAft>
            </a:pPr>
            <a:r>
              <a:rPr sz="1100" b="0">
                <a:solidFill>
                  <a:srgbClr val="1B4F72"/>
                </a:solidFill>
                <a:latin typeface="Calibri"/>
              </a:rPr>
              <a:t>Splunk, Selenium/Jenkins, and PagerDuty.</a:t>
            </a:r>
          </a:p>
          <a:p>
            <a:pPr algn="l">
              <a:spcBef>
                <a:spcPts val="200"/>
              </a:spcBef>
              <a:spcAft>
                <a:spcPts val="0"/>
              </a:spcAft>
            </a:pPr>
            <a:r>
              <a:rPr sz="1100" b="0">
                <a:solidFill>
                  <a:srgbClr val="1B4F72"/>
                </a:solidFill>
                <a:latin typeface="Calibri"/>
              </a:rPr>
              <a:t>DBA, Network, Axa GO, and Cloud Broker</a:t>
            </a:r>
          </a:p>
          <a:p>
            <a:pPr algn="l">
              <a:spcBef>
                <a:spcPts val="0"/>
              </a:spcBef>
              <a:spcAft>
                <a:spcPts val="0"/>
              </a:spcAft>
            </a:pPr>
            <a:r>
              <a:rPr sz="1100" b="0">
                <a:solidFill>
                  <a:srgbClr val="1B4F72"/>
                </a:solidFill>
                <a:latin typeface="Calibri"/>
              </a:rPr>
              <a:t>own the specialist tools.</a:t>
            </a:r>
          </a:p>
        </p:txBody>
      </p:sp>
      <p:sp>
        <p:nvSpPr>
          <p:cNvPr id="9" name="Rounded Rectangle 8"/>
          <p:cNvSpPr/>
          <p:nvPr/>
        </p:nvSpPr>
        <p:spPr>
          <a:xfrm>
            <a:off x="4315968" y="1874519"/>
            <a:ext cx="2286000" cy="2468880"/>
          </a:xfrm>
          <a:prstGeom prst="roundRect">
            <a:avLst>
              <a:gd name="adj" fmla="val 8000"/>
            </a:avLst>
          </a:prstGeom>
          <a:solidFill>
            <a:srgbClr val="0F2C4C"/>
          </a:solidFill>
          <a:ln w="19050">
            <a:solidFill>
              <a:srgbClr val="0F2C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25696" y="1975104"/>
            <a:ext cx="2084831" cy="2240280"/>
          </a:xfrm>
          <a:prstGeom prst="rect">
            <a:avLst/>
          </a:prstGeom>
          <a:noFill/>
        </p:spPr>
        <p:txBody>
          <a:bodyPr wrap="square" lIns="36576" rIns="36576" tIns="18288" bIns="18288" anchor="t"/>
          <a:lstStyle/>
          <a:p>
            <a:pPr algn="l">
              <a:spcBef>
                <a:spcPts val="0"/>
              </a:spcBef>
              <a:spcAft>
                <a:spcPts val="0"/>
              </a:spcAft>
            </a:pPr>
            <a:r>
              <a:rPr sz="1500" b="1">
                <a:solidFill>
                  <a:srgbClr val="FFFFFF"/>
                </a:solidFill>
                <a:latin typeface="Calibri"/>
              </a:rPr>
              <a:t>PAGERDUTY</a:t>
            </a:r>
          </a:p>
          <a:p>
            <a:pPr algn="l">
              <a:spcBef>
                <a:spcPts val="200"/>
              </a:spcBef>
              <a:spcAft>
                <a:spcPts val="0"/>
              </a:spcAft>
            </a:pPr>
            <a:r>
              <a:rPr sz="1200" b="0">
                <a:solidFill>
                  <a:srgbClr val="F6C453"/>
                </a:solidFill>
                <a:latin typeface="Calibri"/>
              </a:rPr>
              <a:t>Hub</a:t>
            </a:r>
          </a:p>
          <a:p>
            <a:pPr algn="l">
              <a:spcBef>
                <a:spcPts val="800"/>
              </a:spcBef>
              <a:spcAft>
                <a:spcPts val="0"/>
              </a:spcAft>
            </a:pPr>
            <a:r>
              <a:rPr sz="1300" b="0">
                <a:solidFill>
                  <a:srgbClr val="FFFFFF"/>
                </a:solidFill>
                <a:latin typeface="Calibri"/>
              </a:rPr>
              <a:t>Incident</a:t>
            </a:r>
          </a:p>
          <a:p>
            <a:pPr algn="l">
              <a:spcBef>
                <a:spcPts val="200"/>
              </a:spcBef>
              <a:spcAft>
                <a:spcPts val="0"/>
              </a:spcAft>
            </a:pPr>
            <a:r>
              <a:rPr sz="1300" b="0">
                <a:solidFill>
                  <a:srgbClr val="FFFFFF"/>
                </a:solidFill>
                <a:latin typeface="Calibri"/>
              </a:rPr>
              <a:t>Escalation policy</a:t>
            </a:r>
          </a:p>
          <a:p>
            <a:pPr algn="l">
              <a:spcBef>
                <a:spcPts val="200"/>
              </a:spcBef>
              <a:spcAft>
                <a:spcPts val="0"/>
              </a:spcAft>
            </a:pPr>
            <a:r>
              <a:rPr sz="1300" b="0">
                <a:solidFill>
                  <a:srgbClr val="FFFFFF"/>
                </a:solidFill>
                <a:latin typeface="Calibri"/>
              </a:rPr>
              <a:t>Call and SMS</a:t>
            </a:r>
          </a:p>
          <a:p>
            <a:pPr algn="l">
              <a:spcBef>
                <a:spcPts val="800"/>
              </a:spcBef>
              <a:spcAft>
                <a:spcPts val="0"/>
              </a:spcAft>
            </a:pPr>
            <a:r>
              <a:rPr sz="1100" b="0">
                <a:solidFill>
                  <a:srgbClr val="D6E4F0"/>
                </a:solidFill>
                <a:latin typeface="Calibri"/>
              </a:rPr>
              <a:t>Owner: Technology DevOps</a:t>
            </a:r>
          </a:p>
        </p:txBody>
      </p:sp>
      <p:sp>
        <p:nvSpPr>
          <p:cNvPr id="11" name="Rounded Rectangle 10"/>
          <p:cNvSpPr/>
          <p:nvPr/>
        </p:nvSpPr>
        <p:spPr>
          <a:xfrm>
            <a:off x="7818120" y="1024128"/>
            <a:ext cx="1965960" cy="1600200"/>
          </a:xfrm>
          <a:prstGeom prst="roundRect">
            <a:avLst>
              <a:gd name="adj" fmla="val 8000"/>
            </a:avLst>
          </a:prstGeom>
          <a:solidFill>
            <a:srgbClr val="E8F6EE"/>
          </a:solidFill>
          <a:ln w="19050">
            <a:solidFill>
              <a:srgbClr val="1E7A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18704" y="1097280"/>
            <a:ext cx="1783080" cy="1444752"/>
          </a:xfrm>
          <a:prstGeom prst="rect">
            <a:avLst/>
          </a:prstGeom>
          <a:noFill/>
        </p:spPr>
        <p:txBody>
          <a:bodyPr wrap="square" lIns="36576" rIns="36576" tIns="18288" bIns="18288" anchor="t"/>
          <a:lstStyle/>
          <a:p>
            <a:pPr algn="l">
              <a:spcBef>
                <a:spcPts val="0"/>
              </a:spcBef>
              <a:spcAft>
                <a:spcPts val="0"/>
              </a:spcAft>
            </a:pPr>
            <a:r>
              <a:rPr sz="1400" b="1">
                <a:solidFill>
                  <a:srgbClr val="1E7A46"/>
                </a:solidFill>
                <a:latin typeface="Calibri"/>
              </a:rPr>
              <a:t>BAM-INDIA</a:t>
            </a:r>
          </a:p>
          <a:p>
            <a:pPr algn="l">
              <a:spcBef>
                <a:spcPts val="200"/>
              </a:spcBef>
              <a:spcAft>
                <a:spcPts val="0"/>
              </a:spcAft>
            </a:pPr>
            <a:r>
              <a:rPr sz="1100" b="0">
                <a:solidFill>
                  <a:srgbClr val="374151"/>
                </a:solidFill>
                <a:latin typeface="Calibri"/>
              </a:rPr>
              <a:t>Consumer of the page</a:t>
            </a:r>
          </a:p>
          <a:p>
            <a:pPr algn="l">
              <a:spcBef>
                <a:spcPts val="400"/>
              </a:spcBef>
              <a:spcAft>
                <a:spcPts val="0"/>
              </a:spcAft>
            </a:pPr>
            <a:r>
              <a:rPr sz="1200" b="0">
                <a:solidFill>
                  <a:srgbClr val="374151"/>
                </a:solidFill>
                <a:latin typeface="Calibri"/>
              </a:rPr>
              <a:t>Receives the call and SMS</a:t>
            </a:r>
          </a:p>
          <a:p>
            <a:pPr algn="l">
              <a:spcBef>
                <a:spcPts val="100"/>
              </a:spcBef>
              <a:spcAft>
                <a:spcPts val="0"/>
              </a:spcAft>
            </a:pPr>
            <a:r>
              <a:rPr sz="1200" b="0">
                <a:solidFill>
                  <a:srgbClr val="374151"/>
                </a:solidFill>
                <a:latin typeface="Calibri"/>
              </a:rPr>
              <a:t>Escalates into the war room</a:t>
            </a:r>
          </a:p>
        </p:txBody>
      </p:sp>
      <p:sp>
        <p:nvSpPr>
          <p:cNvPr id="13" name="Rounded Rectangle 12"/>
          <p:cNvSpPr/>
          <p:nvPr/>
        </p:nvSpPr>
        <p:spPr>
          <a:xfrm>
            <a:off x="9921240" y="1024128"/>
            <a:ext cx="2057400" cy="1600200"/>
          </a:xfrm>
          <a:prstGeom prst="roundRect">
            <a:avLst>
              <a:gd name="adj" fmla="val 8000"/>
            </a:avLst>
          </a:prstGeom>
          <a:solidFill>
            <a:srgbClr val="FFF6CC"/>
          </a:solidFill>
          <a:ln w="19050">
            <a:solidFill>
              <a:srgbClr val="C496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12680" y="1078992"/>
            <a:ext cx="1874519" cy="1463040"/>
          </a:xfrm>
          <a:prstGeom prst="rect">
            <a:avLst/>
          </a:prstGeom>
          <a:noFill/>
        </p:spPr>
        <p:txBody>
          <a:bodyPr wrap="square" lIns="36576" rIns="36576" tIns="18288" bIns="18288" anchor="t"/>
          <a:lstStyle/>
          <a:p>
            <a:pPr algn="l">
              <a:spcBef>
                <a:spcPts val="0"/>
              </a:spcBef>
              <a:spcAft>
                <a:spcPts val="0"/>
              </a:spcAft>
            </a:pPr>
            <a:r>
              <a:rPr sz="1100" b="1">
                <a:solidFill>
                  <a:srgbClr val="854D0E"/>
                </a:solidFill>
                <a:latin typeface="Calibri"/>
              </a:rPr>
              <a:t>YELLOW NOTE</a:t>
            </a:r>
          </a:p>
          <a:p>
            <a:pPr algn="l">
              <a:spcBef>
                <a:spcPts val="300"/>
              </a:spcBef>
              <a:spcAft>
                <a:spcPts val="0"/>
              </a:spcAft>
            </a:pPr>
            <a:r>
              <a:rPr sz="1100" b="0">
                <a:solidFill>
                  <a:srgbClr val="374151"/>
                </a:solidFill>
                <a:latin typeface="Calibri"/>
              </a:rPr>
              <a:t>Only new box: PagerDuty AI.</a:t>
            </a:r>
          </a:p>
          <a:p>
            <a:pPr algn="l">
              <a:spcBef>
                <a:spcPts val="100"/>
              </a:spcBef>
              <a:spcAft>
                <a:spcPts val="0"/>
              </a:spcAft>
            </a:pPr>
            <a:r>
              <a:rPr sz="1100" b="0">
                <a:solidFill>
                  <a:srgbClr val="374151"/>
                </a:solidFill>
                <a:latin typeface="Calibri"/>
              </a:rPr>
              <a:t>It sits in the Teams channel.</a:t>
            </a:r>
          </a:p>
          <a:p>
            <a:pPr algn="l">
              <a:spcBef>
                <a:spcPts val="100"/>
              </a:spcBef>
              <a:spcAft>
                <a:spcPts val="0"/>
              </a:spcAft>
            </a:pPr>
            <a:r>
              <a:rPr sz="1100" b="0">
                <a:solidFill>
                  <a:srgbClr val="374151"/>
                </a:solidFill>
                <a:latin typeface="Calibri"/>
              </a:rPr>
              <a:t>Shift is not drawn.</a:t>
            </a:r>
          </a:p>
          <a:p>
            <a:pPr algn="l">
              <a:spcBef>
                <a:spcPts val="100"/>
              </a:spcBef>
              <a:spcAft>
                <a:spcPts val="0"/>
              </a:spcAft>
            </a:pPr>
            <a:r>
              <a:rPr sz="1100" b="0">
                <a:solidFill>
                  <a:srgbClr val="374151"/>
                </a:solidFill>
                <a:latin typeface="Calibri"/>
              </a:rPr>
              <a:t>Assist down: paging still runs.</a:t>
            </a:r>
          </a:p>
        </p:txBody>
      </p:sp>
      <p:sp>
        <p:nvSpPr>
          <p:cNvPr id="15" name="Rounded Rectangle 14"/>
          <p:cNvSpPr/>
          <p:nvPr/>
        </p:nvSpPr>
        <p:spPr>
          <a:xfrm>
            <a:off x="7818120" y="2816352"/>
            <a:ext cx="4160520" cy="2880360"/>
          </a:xfrm>
          <a:prstGeom prst="roundRect">
            <a:avLst>
              <a:gd name="adj" fmla="val 8000"/>
            </a:avLst>
          </a:prstGeom>
          <a:solidFill>
            <a:srgbClr val="E6F4F1"/>
          </a:solidFill>
          <a:ln w="19050">
            <a:solidFill>
              <a:srgbClr val="0E6B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79" y="2889504"/>
            <a:ext cx="3886200" cy="1097280"/>
          </a:xfrm>
          <a:prstGeom prst="rect">
            <a:avLst/>
          </a:prstGeom>
          <a:noFill/>
        </p:spPr>
        <p:txBody>
          <a:bodyPr wrap="square" lIns="36576" rIns="36576" tIns="18288" bIns="18288" anchor="t"/>
          <a:lstStyle/>
          <a:p>
            <a:pPr algn="l">
              <a:spcBef>
                <a:spcPts val="0"/>
              </a:spcBef>
              <a:spcAft>
                <a:spcPts val="0"/>
              </a:spcAft>
            </a:pPr>
            <a:r>
              <a:rPr sz="1400" b="1">
                <a:solidFill>
                  <a:srgbClr val="0E6B5C"/>
                </a:solidFill>
                <a:latin typeface="Calibri"/>
              </a:rPr>
              <a:t>WAR ROOM</a:t>
            </a:r>
          </a:p>
          <a:p>
            <a:pPr algn="l">
              <a:spcBef>
                <a:spcPts val="100"/>
              </a:spcBef>
              <a:spcAft>
                <a:spcPts val="0"/>
              </a:spcAft>
            </a:pPr>
            <a:r>
              <a:rPr sz="1100" b="0">
                <a:solidFill>
                  <a:srgbClr val="374151"/>
                </a:solidFill>
                <a:latin typeface="Calibri"/>
              </a:rPr>
              <a:t>Consumers of the briefing</a:t>
            </a:r>
          </a:p>
          <a:p>
            <a:pPr algn="l">
              <a:spcBef>
                <a:spcPts val="300"/>
              </a:spcBef>
              <a:spcAft>
                <a:spcPts val="0"/>
              </a:spcAft>
            </a:pPr>
            <a:r>
              <a:rPr sz="1200" b="0">
                <a:solidFill>
                  <a:srgbClr val="374151"/>
                </a:solidFill>
                <a:latin typeface="Calibri"/>
              </a:rPr>
              <a:t>Technology SREs and Application Support</a:t>
            </a:r>
          </a:p>
          <a:p>
            <a:pPr algn="l">
              <a:spcBef>
                <a:spcPts val="0"/>
              </a:spcBef>
              <a:spcAft>
                <a:spcPts val="0"/>
              </a:spcAft>
            </a:pPr>
            <a:r>
              <a:rPr sz="1200" b="0">
                <a:solidFill>
                  <a:srgbClr val="374151"/>
                </a:solidFill>
                <a:latin typeface="Calibri"/>
              </a:rPr>
              <a:t>Microsoft Teams channel</a:t>
            </a:r>
          </a:p>
        </p:txBody>
      </p:sp>
      <p:sp>
        <p:nvSpPr>
          <p:cNvPr id="17" name="Rounded Rectangle 16"/>
          <p:cNvSpPr/>
          <p:nvPr/>
        </p:nvSpPr>
        <p:spPr>
          <a:xfrm>
            <a:off x="7973568" y="4160520"/>
            <a:ext cx="1965960" cy="1389888"/>
          </a:xfrm>
          <a:prstGeom prst="roundRect">
            <a:avLst>
              <a:gd name="adj" fmla="val 8000"/>
            </a:avLst>
          </a:prstGeom>
          <a:solidFill>
            <a:srgbClr val="FFF4E8"/>
          </a:solidFill>
          <a:ln w="28575">
            <a:solidFill>
              <a:srgbClr val="C456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65008" y="4187952"/>
            <a:ext cx="1810512" cy="1298448"/>
          </a:xfrm>
          <a:prstGeom prst="rect">
            <a:avLst/>
          </a:prstGeom>
          <a:noFill/>
        </p:spPr>
        <p:txBody>
          <a:bodyPr wrap="square" lIns="36576" rIns="36576" tIns="18288" bIns="18288" anchor="t"/>
          <a:lstStyle/>
          <a:p>
            <a:pPr algn="l">
              <a:spcBef>
                <a:spcPts val="0"/>
              </a:spcBef>
              <a:spcAft>
                <a:spcPts val="0"/>
              </a:spcAft>
            </a:pPr>
            <a:r>
              <a:rPr sz="1200" b="1">
                <a:solidFill>
                  <a:srgbClr val="C4560A"/>
                </a:solidFill>
                <a:latin typeface="Calibri"/>
              </a:rPr>
              <a:t>PAGERDUTY AI</a:t>
            </a:r>
          </a:p>
          <a:p>
            <a:pPr algn="l">
              <a:spcBef>
                <a:spcPts val="0"/>
              </a:spcBef>
              <a:spcAft>
                <a:spcPts val="0"/>
              </a:spcAft>
            </a:pPr>
            <a:r>
              <a:rPr sz="1000" b="1">
                <a:solidFill>
                  <a:srgbClr val="C4560A"/>
                </a:solidFill>
                <a:latin typeface="Calibri"/>
              </a:rPr>
              <a:t>The new box</a:t>
            </a:r>
          </a:p>
          <a:p>
            <a:pPr algn="l">
              <a:spcBef>
                <a:spcPts val="200"/>
              </a:spcBef>
              <a:spcAft>
                <a:spcPts val="0"/>
              </a:spcAft>
            </a:pPr>
            <a:r>
              <a:rPr sz="1100" b="0">
                <a:solidFill>
                  <a:srgbClr val="374151"/>
                </a:solidFill>
                <a:latin typeface="Calibri"/>
              </a:rPr>
              <a:t>SRE catch-up</a:t>
            </a:r>
          </a:p>
          <a:p>
            <a:pPr algn="l">
              <a:spcBef>
                <a:spcPts val="0"/>
              </a:spcBef>
              <a:spcAft>
                <a:spcPts val="0"/>
              </a:spcAft>
            </a:pPr>
            <a:r>
              <a:rPr sz="1100" b="0">
                <a:solidFill>
                  <a:srgbClr val="374151"/>
                </a:solidFill>
                <a:latin typeface="Calibri"/>
              </a:rPr>
              <a:t>Status draft</a:t>
            </a:r>
          </a:p>
          <a:p>
            <a:pPr algn="l">
              <a:spcBef>
                <a:spcPts val="0"/>
              </a:spcBef>
              <a:spcAft>
                <a:spcPts val="0"/>
              </a:spcAft>
            </a:pPr>
            <a:r>
              <a:rPr sz="1100" b="0">
                <a:solidFill>
                  <a:srgbClr val="374151"/>
                </a:solidFill>
                <a:latin typeface="Calibri"/>
              </a:rPr>
              <a:t>Scribe bridge note</a:t>
            </a:r>
          </a:p>
          <a:p>
            <a:pPr algn="l">
              <a:spcBef>
                <a:spcPts val="0"/>
              </a:spcBef>
              <a:spcAft>
                <a:spcPts val="0"/>
              </a:spcAft>
            </a:pPr>
            <a:r>
              <a:rPr sz="1100" b="0">
                <a:solidFill>
                  <a:srgbClr val="374151"/>
                </a:solidFill>
                <a:latin typeface="Calibri"/>
              </a:rPr>
              <a:t>Insights, if enabled</a:t>
            </a:r>
          </a:p>
        </p:txBody>
      </p:sp>
      <p:sp>
        <p:nvSpPr>
          <p:cNvPr id="19" name="TextBox 18"/>
          <p:cNvSpPr txBox="1"/>
          <p:nvPr/>
        </p:nvSpPr>
        <p:spPr>
          <a:xfrm>
            <a:off x="10058400" y="4160520"/>
            <a:ext cx="1783080" cy="1417320"/>
          </a:xfrm>
          <a:prstGeom prst="rect">
            <a:avLst/>
          </a:prstGeom>
          <a:noFill/>
        </p:spPr>
        <p:txBody>
          <a:bodyPr wrap="square" lIns="36576" rIns="36576" tIns="18288" bIns="18288" anchor="t"/>
          <a:lstStyle/>
          <a:p>
            <a:pPr algn="l">
              <a:spcBef>
                <a:spcPts val="0"/>
              </a:spcBef>
              <a:spcAft>
                <a:spcPts val="0"/>
              </a:spcAft>
            </a:pPr>
            <a:r>
              <a:rPr sz="1200" b="1">
                <a:solidFill>
                  <a:srgbClr val="0E6B5C"/>
                </a:solidFill>
                <a:latin typeface="Calibri"/>
              </a:rPr>
              <a:t>Late joiner</a:t>
            </a:r>
          </a:p>
          <a:p>
            <a:pPr algn="l">
              <a:spcBef>
                <a:spcPts val="300"/>
              </a:spcBef>
              <a:spcAft>
                <a:spcPts val="0"/>
              </a:spcAft>
            </a:pPr>
            <a:r>
              <a:rPr sz="1100" b="0">
                <a:solidFill>
                  <a:srgbClr val="374151"/>
                </a:solidFill>
                <a:latin typeface="Calibri"/>
              </a:rPr>
              <a:t>DBA → DEM</a:t>
            </a:r>
          </a:p>
          <a:p>
            <a:pPr algn="l">
              <a:spcBef>
                <a:spcPts val="100"/>
              </a:spcBef>
              <a:spcAft>
                <a:spcPts val="0"/>
              </a:spcAft>
            </a:pPr>
            <a:r>
              <a:rPr sz="1100" b="0">
                <a:solidFill>
                  <a:srgbClr val="374151"/>
                </a:solidFill>
                <a:latin typeface="Calibri"/>
              </a:rPr>
              <a:t>Network → Nagios</a:t>
            </a:r>
          </a:p>
          <a:p>
            <a:pPr algn="l">
              <a:spcBef>
                <a:spcPts val="100"/>
              </a:spcBef>
              <a:spcAft>
                <a:spcPts val="0"/>
              </a:spcAft>
            </a:pPr>
            <a:r>
              <a:rPr sz="1100" b="0">
                <a:solidFill>
                  <a:srgbClr val="374151"/>
                </a:solidFill>
                <a:latin typeface="Calibri"/>
              </a:rPr>
              <a:t>Axa GO → SCOM</a:t>
            </a:r>
          </a:p>
          <a:p>
            <a:pPr algn="l">
              <a:spcBef>
                <a:spcPts val="100"/>
              </a:spcBef>
              <a:spcAft>
                <a:spcPts val="0"/>
              </a:spcAft>
            </a:pPr>
            <a:r>
              <a:rPr sz="1100" b="0">
                <a:solidFill>
                  <a:srgbClr val="374151"/>
                </a:solidFill>
                <a:latin typeface="Calibri"/>
              </a:rPr>
              <a:t>Cloud Broker → AWS</a:t>
            </a:r>
          </a:p>
        </p:txBody>
      </p:sp>
      <p:sp>
        <p:nvSpPr>
          <p:cNvPr id="20" name="Rounded Rectangle 19"/>
          <p:cNvSpPr/>
          <p:nvPr/>
        </p:nvSpPr>
        <p:spPr>
          <a:xfrm>
            <a:off x="4315968" y="4754880"/>
            <a:ext cx="2286000" cy="1325880"/>
          </a:xfrm>
          <a:prstGeom prst="roundRect">
            <a:avLst>
              <a:gd name="adj" fmla="val 8000"/>
            </a:avLst>
          </a:prstGeom>
          <a:solidFill>
            <a:srgbClr val="F3F4F6"/>
          </a:solidFill>
          <a:ln w="19050">
            <a:solidFill>
              <a:srgbClr val="3741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5696" y="4828032"/>
            <a:ext cx="2084831" cy="1170432"/>
          </a:xfrm>
          <a:prstGeom prst="rect">
            <a:avLst/>
          </a:prstGeom>
          <a:noFill/>
        </p:spPr>
        <p:txBody>
          <a:bodyPr wrap="square" lIns="36576" rIns="36576" tIns="18288" bIns="18288" anchor="t"/>
          <a:lstStyle/>
          <a:p>
            <a:pPr algn="l">
              <a:spcBef>
                <a:spcPts val="0"/>
              </a:spcBef>
              <a:spcAft>
                <a:spcPts val="0"/>
              </a:spcAft>
            </a:pPr>
            <a:r>
              <a:rPr sz="1300" b="1">
                <a:solidFill>
                  <a:srgbClr val="374151"/>
                </a:solidFill>
                <a:latin typeface="Calibri"/>
              </a:rPr>
              <a:t>SERVICENOW / SILVA</a:t>
            </a:r>
          </a:p>
          <a:p>
            <a:pPr algn="l">
              <a:spcBef>
                <a:spcPts val="200"/>
              </a:spcBef>
              <a:spcAft>
                <a:spcPts val="0"/>
              </a:spcAft>
            </a:pPr>
            <a:r>
              <a:rPr sz="1200" b="0">
                <a:solidFill>
                  <a:srgbClr val="0E6B5C"/>
                </a:solidFill>
                <a:latin typeface="Calibri"/>
              </a:rPr>
              <a:t>Correlation</a:t>
            </a:r>
          </a:p>
          <a:p>
            <a:pPr algn="l">
              <a:spcBef>
                <a:spcPts val="400"/>
              </a:spcBef>
              <a:spcAft>
                <a:spcPts val="0"/>
              </a:spcAft>
            </a:pPr>
            <a:r>
              <a:rPr sz="1200" b="0">
                <a:solidFill>
                  <a:srgbClr val="374151"/>
                </a:solidFill>
                <a:latin typeface="Calibri"/>
              </a:rPr>
              <a:t>Filed after a person has</a:t>
            </a:r>
          </a:p>
          <a:p>
            <a:pPr algn="l">
              <a:spcBef>
                <a:spcPts val="0"/>
              </a:spcBef>
              <a:spcAft>
                <a:spcPts val="0"/>
              </a:spcAft>
            </a:pPr>
            <a:r>
              <a:rPr sz="1200" b="0">
                <a:solidFill>
                  <a:srgbClr val="374151"/>
                </a:solidFill>
                <a:latin typeface="Calibri"/>
              </a:rPr>
              <a:t>checked the text and acted.</a:t>
            </a:r>
          </a:p>
        </p:txBody>
      </p:sp>
      <p:cxnSp>
        <p:nvCxnSpPr>
          <p:cNvPr id="22" name="Connector 21"/>
          <p:cNvCxnSpPr/>
          <p:nvPr/>
        </p:nvCxnSpPr>
        <p:spPr>
          <a:xfrm>
            <a:off x="3172968" y="3017520"/>
            <a:ext cx="1143000" cy="0"/>
          </a:xfrm>
          <a:prstGeom prst="line">
            <a:avLst/>
          </a:prstGeom>
          <a:ln w="22225">
            <a:solidFill>
              <a:srgbClr val="0F2C4C"/>
            </a:solidFill>
            <a:headEnd type="triangle" w="med" h="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108960" y="2697480"/>
            <a:ext cx="1188720" cy="256032"/>
          </a:xfrm>
          <a:prstGeom prst="rect">
            <a:avLst/>
          </a:prstGeom>
          <a:noFill/>
        </p:spPr>
        <p:txBody>
          <a:bodyPr wrap="square" lIns="36576" rIns="36576" tIns="18288" bIns="18288" anchor="t"/>
          <a:lstStyle/>
          <a:p>
            <a:pPr algn="ctr">
              <a:spcBef>
                <a:spcPts val="0"/>
              </a:spcBef>
              <a:spcAft>
                <a:spcPts val="0"/>
              </a:spcAft>
            </a:pPr>
            <a:r>
              <a:rPr sz="1000" b="1">
                <a:solidFill>
                  <a:srgbClr val="0F2C4C"/>
                </a:solidFill>
                <a:latin typeface="Calibri"/>
              </a:rPr>
              <a:t>critical event</a:t>
            </a:r>
          </a:p>
        </p:txBody>
      </p:sp>
      <p:cxnSp>
        <p:nvCxnSpPr>
          <p:cNvPr id="24" name="Connector 23"/>
          <p:cNvCxnSpPr/>
          <p:nvPr/>
        </p:nvCxnSpPr>
        <p:spPr>
          <a:xfrm flipV="1">
            <a:off x="6601968" y="1691640"/>
            <a:ext cx="1216152" cy="457200"/>
          </a:xfrm>
          <a:prstGeom prst="line">
            <a:avLst/>
          </a:prstGeom>
          <a:ln w="22225">
            <a:solidFill>
              <a:srgbClr val="0F2C4C"/>
            </a:solidFill>
            <a:headEnd type="triangle" w="med" h="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601968" y="1353312"/>
            <a:ext cx="1143000" cy="256032"/>
          </a:xfrm>
          <a:prstGeom prst="rect">
            <a:avLst/>
          </a:prstGeom>
          <a:noFill/>
        </p:spPr>
        <p:txBody>
          <a:bodyPr wrap="square" lIns="36576" rIns="36576" tIns="18288" bIns="18288" anchor="t"/>
          <a:lstStyle/>
          <a:p>
            <a:pPr algn="ctr">
              <a:spcBef>
                <a:spcPts val="0"/>
              </a:spcBef>
              <a:spcAft>
                <a:spcPts val="0"/>
              </a:spcAft>
            </a:pPr>
            <a:r>
              <a:rPr sz="1000" b="1">
                <a:solidFill>
                  <a:srgbClr val="1E7A46"/>
                </a:solidFill>
                <a:latin typeface="Calibri"/>
              </a:rPr>
              <a:t>call / SMS</a:t>
            </a:r>
          </a:p>
        </p:txBody>
      </p:sp>
      <p:cxnSp>
        <p:nvCxnSpPr>
          <p:cNvPr id="26" name="Connector 25"/>
          <p:cNvCxnSpPr/>
          <p:nvPr/>
        </p:nvCxnSpPr>
        <p:spPr>
          <a:xfrm>
            <a:off x="6601968" y="3520440"/>
            <a:ext cx="1216152" cy="0"/>
          </a:xfrm>
          <a:prstGeom prst="line">
            <a:avLst/>
          </a:prstGeom>
          <a:ln w="22225">
            <a:solidFill>
              <a:srgbClr val="0F2C4C"/>
            </a:solidFill>
            <a:headEnd type="triangle" w="med" h="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583680" y="3200400"/>
            <a:ext cx="1188720" cy="256032"/>
          </a:xfrm>
          <a:prstGeom prst="rect">
            <a:avLst/>
          </a:prstGeom>
          <a:noFill/>
        </p:spPr>
        <p:txBody>
          <a:bodyPr wrap="square" lIns="36576" rIns="36576" tIns="18288" bIns="18288" anchor="t"/>
          <a:lstStyle/>
          <a:p>
            <a:pPr algn="ctr">
              <a:spcBef>
                <a:spcPts val="0"/>
              </a:spcBef>
              <a:spcAft>
                <a:spcPts val="0"/>
              </a:spcAft>
            </a:pPr>
            <a:r>
              <a:rPr sz="1000" b="1">
                <a:solidFill>
                  <a:srgbClr val="0E6B5C"/>
                </a:solidFill>
                <a:latin typeface="Calibri"/>
              </a:rPr>
              <a:t>escalation</a:t>
            </a:r>
          </a:p>
        </p:txBody>
      </p:sp>
      <p:cxnSp>
        <p:nvCxnSpPr>
          <p:cNvPr id="28" name="Connector 27"/>
          <p:cNvCxnSpPr/>
          <p:nvPr/>
        </p:nvCxnSpPr>
        <p:spPr>
          <a:xfrm>
            <a:off x="5029200" y="4343400"/>
            <a:ext cx="0" cy="411480"/>
          </a:xfrm>
          <a:prstGeom prst="line">
            <a:avLst/>
          </a:prstGeom>
          <a:ln w="22225">
            <a:solidFill>
              <a:srgbClr val="0F2C4C"/>
            </a:solidFill>
            <a:headEnd type="triangle" w="med" h="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166360" y="4407408"/>
            <a:ext cx="1280160" cy="256032"/>
          </a:xfrm>
          <a:prstGeom prst="rect">
            <a:avLst/>
          </a:prstGeom>
          <a:noFill/>
        </p:spPr>
        <p:txBody>
          <a:bodyPr wrap="square" lIns="36576" rIns="36576" tIns="18288" bIns="18288" anchor="t"/>
          <a:lstStyle/>
          <a:p>
            <a:pPr algn="l">
              <a:spcBef>
                <a:spcPts val="0"/>
              </a:spcBef>
              <a:spcAft>
                <a:spcPts val="0"/>
              </a:spcAft>
            </a:pPr>
            <a:r>
              <a:rPr sz="1000" b="1">
                <a:solidFill>
                  <a:srgbClr val="374151"/>
                </a:solidFill>
                <a:latin typeface="Calibri"/>
              </a:rPr>
              <a:t>correlation</a:t>
            </a:r>
          </a:p>
        </p:txBody>
      </p:sp>
      <p:sp>
        <p:nvSpPr>
          <p:cNvPr id="30" name="TextBox 29"/>
          <p:cNvSpPr txBox="1"/>
          <p:nvPr/>
        </p:nvSpPr>
        <p:spPr>
          <a:xfrm>
            <a:off x="201168" y="6309360"/>
            <a:ext cx="11704320" cy="365760"/>
          </a:xfrm>
          <a:prstGeom prst="rect">
            <a:avLst/>
          </a:prstGeom>
          <a:noFill/>
        </p:spPr>
        <p:txBody>
          <a:bodyPr wrap="square" lIns="36576" rIns="36576" tIns="18288" bIns="18288" anchor="t"/>
          <a:lstStyle/>
          <a:p>
            <a:pPr algn="l">
              <a:spcBef>
                <a:spcPts val="0"/>
              </a:spcBef>
              <a:spcAft>
                <a:spcPts val="0"/>
              </a:spcAft>
            </a:pPr>
            <a:r>
              <a:rPr sz="1200" b="0">
                <a:solidFill>
                  <a:srgbClr val="374151"/>
                </a:solidFill>
                <a:latin typeface="Calibri"/>
              </a:rPr>
              <a:t>Left box sends the signal. Center hub pages BAM-India. Orange box is the only addition. Employee names are marked on the next slide.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73152"/>
            <a:ext cx="8686800" cy="384048"/>
          </a:xfrm>
          <a:prstGeom prst="rect">
            <a:avLst/>
          </a:prstGeom>
          <a:noFill/>
        </p:spPr>
        <p:txBody>
          <a:bodyPr wrap="square" lIns="36576" rIns="36576" tIns="18288" bIns="18288" anchor="t"/>
          <a:lstStyle/>
          <a:p>
            <a:pPr algn="l">
              <a:spcBef>
                <a:spcPts val="0"/>
              </a:spcBef>
              <a:spcAft>
                <a:spcPts val="0"/>
              </a:spcAft>
            </a:pPr>
            <a:r>
              <a:rPr sz="2600" b="1">
                <a:solidFill>
                  <a:srgbClr val="FFFFFF"/>
                </a:solidFill>
                <a:latin typeface="Calibri"/>
              </a:rPr>
              <a:t>Data Flow</a:t>
            </a:r>
          </a:p>
        </p:txBody>
      </p:sp>
      <p:sp>
        <p:nvSpPr>
          <p:cNvPr id="5" name="TextBox 4"/>
          <p:cNvSpPr txBox="1"/>
          <p:nvPr/>
        </p:nvSpPr>
        <p:spPr>
          <a:xfrm>
            <a:off x="310896" y="438912"/>
            <a:ext cx="9326880" cy="329184"/>
          </a:xfrm>
          <a:prstGeom prst="rect">
            <a:avLst/>
          </a:prstGeom>
          <a:noFill/>
        </p:spPr>
        <p:txBody>
          <a:bodyPr wrap="square" lIns="36576" rIns="36576" tIns="18288" bIns="18288" anchor="t"/>
          <a:lstStyle/>
          <a:p>
            <a:pPr algn="l">
              <a:spcBef>
                <a:spcPts val="0"/>
              </a:spcBef>
              <a:spcAft>
                <a:spcPts val="0"/>
              </a:spcAft>
            </a:pPr>
            <a:r>
              <a:rPr sz="1300" b="0">
                <a:solidFill>
                  <a:srgbClr val="D6E4F0"/>
                </a:solidFill>
                <a:latin typeface="Calibri"/>
              </a:rPr>
              <a:t>Use case: 24x7 critical-incident catch-up in Microsoft Teams</a:t>
            </a:r>
          </a:p>
        </p:txBody>
      </p:sp>
      <p:sp>
        <p:nvSpPr>
          <p:cNvPr id="6" name="TextBox 5"/>
          <p:cNvSpPr txBox="1"/>
          <p:nvPr/>
        </p:nvSpPr>
        <p:spPr>
          <a:xfrm>
            <a:off x="9601200" y="201168"/>
            <a:ext cx="2286000" cy="457200"/>
          </a:xfrm>
          <a:prstGeom prst="rect">
            <a:avLst/>
          </a:prstGeom>
          <a:noFill/>
        </p:spPr>
        <p:txBody>
          <a:bodyPr wrap="square" lIns="36576" rIns="36576" tIns="18288" bIns="18288" anchor="t"/>
          <a:lstStyle/>
          <a:p>
            <a:pPr algn="r">
              <a:spcBef>
                <a:spcPts val="0"/>
              </a:spcBef>
              <a:spcAft>
                <a:spcPts val="0"/>
              </a:spcAft>
            </a:pPr>
            <a:r>
              <a:rPr sz="1400" b="1">
                <a:solidFill>
                  <a:srgbClr val="FFFFFF"/>
                </a:solidFill>
                <a:latin typeface="Calibri"/>
              </a:rPr>
              <a:t>ALJ and ADJ</a:t>
            </a:r>
          </a:p>
          <a:p>
            <a:pPr algn="r">
              <a:spcBef>
                <a:spcPts val="0"/>
              </a:spcBef>
              <a:spcAft>
                <a:spcPts val="0"/>
              </a:spcAft>
            </a:pPr>
            <a:r>
              <a:rPr sz="1100" b="0">
                <a:solidFill>
                  <a:srgbClr val="D6E4F0"/>
                </a:solidFill>
                <a:latin typeface="Calibri"/>
              </a:rPr>
              <a:t>P&amp;C</a:t>
            </a:r>
          </a:p>
        </p:txBody>
      </p:sp>
      <p:sp>
        <p:nvSpPr>
          <p:cNvPr id="7" name="Oval 6"/>
          <p:cNvSpPr/>
          <p:nvPr/>
        </p:nvSpPr>
        <p:spPr>
          <a:xfrm>
            <a:off x="329184" y="987552"/>
            <a:ext cx="201168" cy="201168"/>
          </a:xfrm>
          <a:prstGeom prst="ellipse">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 y="932688"/>
            <a:ext cx="11247120" cy="310896"/>
          </a:xfrm>
          <a:prstGeom prst="rect">
            <a:avLst/>
          </a:prstGeom>
          <a:noFill/>
        </p:spPr>
        <p:txBody>
          <a:bodyPr wrap="square" lIns="36576" rIns="36576" tIns="18288" bIns="18288" anchor="t"/>
          <a:lstStyle/>
          <a:p>
            <a:pPr algn="l">
              <a:spcBef>
                <a:spcPts val="0"/>
              </a:spcBef>
              <a:spcAft>
                <a:spcPts val="0"/>
              </a:spcAft>
            </a:pPr>
            <a:r>
              <a:rPr sz="1300" b="0">
                <a:solidFill>
                  <a:srgbClr val="374151"/>
                </a:solidFill>
                <a:latin typeface="Calibri"/>
              </a:rPr>
              <a:t>Red dot = personal information: an employee display name, a Teams identity, or a name spoken on the bridge.</a:t>
            </a:r>
          </a:p>
        </p:txBody>
      </p:sp>
      <p:sp>
        <p:nvSpPr>
          <p:cNvPr id="9" name="Rounded Rectangle 8"/>
          <p:cNvSpPr/>
          <p:nvPr/>
        </p:nvSpPr>
        <p:spPr>
          <a:xfrm>
            <a:off x="201168" y="1389888"/>
            <a:ext cx="1783080" cy="2331720"/>
          </a:xfrm>
          <a:prstGeom prst="roundRect">
            <a:avLst>
              <a:gd name="adj" fmla="val 8000"/>
            </a:avLst>
          </a:prstGeom>
          <a:solidFill>
            <a:srgbClr val="E7F0F8"/>
          </a:solidFill>
          <a:ln w="15875">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1463040"/>
            <a:ext cx="1645920" cy="2148840"/>
          </a:xfrm>
          <a:prstGeom prst="rect">
            <a:avLst/>
          </a:prstGeom>
          <a:noFill/>
        </p:spPr>
        <p:txBody>
          <a:bodyPr wrap="square" lIns="36576" rIns="36576" tIns="18288" bIns="18288" anchor="t"/>
          <a:lstStyle/>
          <a:p>
            <a:pPr algn="l">
              <a:spcBef>
                <a:spcPts val="0"/>
              </a:spcBef>
              <a:spcAft>
                <a:spcPts val="0"/>
              </a:spcAft>
            </a:pPr>
            <a:r>
              <a:rPr sz="1200" b="1">
                <a:solidFill>
                  <a:srgbClr val="1B4F72"/>
                </a:solidFill>
                <a:latin typeface="Calibri"/>
              </a:rPr>
              <a:t>1  Detector</a:t>
            </a:r>
          </a:p>
          <a:p>
            <a:pPr algn="l">
              <a:spcBef>
                <a:spcPts val="400"/>
              </a:spcBef>
              <a:spcAft>
                <a:spcPts val="0"/>
              </a:spcAft>
            </a:pPr>
            <a:r>
              <a:rPr sz="1200" b="0">
                <a:solidFill>
                  <a:srgbClr val="374151"/>
                </a:solidFill>
                <a:latin typeface="Calibri"/>
              </a:rPr>
              <a:t>Service name</a:t>
            </a:r>
          </a:p>
          <a:p>
            <a:pPr algn="l">
              <a:spcBef>
                <a:spcPts val="100"/>
              </a:spcBef>
              <a:spcAft>
                <a:spcPts val="0"/>
              </a:spcAft>
            </a:pPr>
            <a:r>
              <a:rPr sz="1200" b="0">
                <a:solidFill>
                  <a:srgbClr val="374151"/>
                </a:solidFill>
                <a:latin typeface="Calibri"/>
              </a:rPr>
              <a:t>Alert text</a:t>
            </a:r>
          </a:p>
          <a:p>
            <a:pPr algn="l">
              <a:spcBef>
                <a:spcPts val="100"/>
              </a:spcBef>
              <a:spcAft>
                <a:spcPts val="0"/>
              </a:spcAft>
            </a:pPr>
            <a:r>
              <a:rPr sz="1200" b="0">
                <a:solidFill>
                  <a:srgbClr val="374151"/>
                </a:solidFill>
                <a:latin typeface="Calibri"/>
              </a:rPr>
              <a:t>Problem id</a:t>
            </a:r>
          </a:p>
        </p:txBody>
      </p:sp>
      <p:sp>
        <p:nvSpPr>
          <p:cNvPr id="11" name="Rounded Rectangle 10"/>
          <p:cNvSpPr/>
          <p:nvPr/>
        </p:nvSpPr>
        <p:spPr>
          <a:xfrm>
            <a:off x="2176272" y="1389888"/>
            <a:ext cx="1783080" cy="2331720"/>
          </a:xfrm>
          <a:prstGeom prst="roundRect">
            <a:avLst>
              <a:gd name="adj" fmla="val 8000"/>
            </a:avLst>
          </a:prstGeom>
          <a:solidFill>
            <a:srgbClr val="0F2C4C"/>
          </a:solidFill>
          <a:ln w="222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49424" y="1463040"/>
            <a:ext cx="1645920" cy="2148840"/>
          </a:xfrm>
          <a:prstGeom prst="rect">
            <a:avLst/>
          </a:prstGeom>
          <a:noFill/>
        </p:spPr>
        <p:txBody>
          <a:bodyPr wrap="square" lIns="36576" rIns="36576" tIns="18288" bIns="18288" anchor="t"/>
          <a:lstStyle/>
          <a:p>
            <a:pPr algn="l">
              <a:spcBef>
                <a:spcPts val="0"/>
              </a:spcBef>
              <a:spcAft>
                <a:spcPts val="0"/>
              </a:spcAft>
            </a:pPr>
            <a:r>
              <a:rPr sz="1200" b="1">
                <a:solidFill>
                  <a:srgbClr val="FFFFFF"/>
                </a:solidFill>
                <a:latin typeface="Calibri"/>
              </a:rPr>
              <a:t>2  PagerDuty</a:t>
            </a:r>
          </a:p>
          <a:p>
            <a:pPr algn="l">
              <a:spcBef>
                <a:spcPts val="400"/>
              </a:spcBef>
              <a:spcAft>
                <a:spcPts val="0"/>
              </a:spcAft>
            </a:pPr>
            <a:r>
              <a:rPr sz="1200" b="0">
                <a:solidFill>
                  <a:srgbClr val="FFFFFF"/>
                </a:solidFill>
                <a:latin typeface="Calibri"/>
              </a:rPr>
              <a:t>Incident fields</a:t>
            </a:r>
          </a:p>
          <a:p>
            <a:pPr algn="l">
              <a:spcBef>
                <a:spcPts val="100"/>
              </a:spcBef>
              <a:spcAft>
                <a:spcPts val="0"/>
              </a:spcAft>
            </a:pPr>
            <a:r>
              <a:rPr sz="1200" b="0">
                <a:solidFill>
                  <a:srgbClr val="FFFFFF"/>
                </a:solidFill>
                <a:latin typeface="Calibri"/>
              </a:rPr>
              <a:t>Runbook link</a:t>
            </a:r>
          </a:p>
          <a:p>
            <a:pPr algn="l">
              <a:spcBef>
                <a:spcPts val="100"/>
              </a:spcBef>
              <a:spcAft>
                <a:spcPts val="0"/>
              </a:spcAft>
            </a:pPr>
            <a:r>
              <a:rPr sz="1200" b="1">
                <a:solidFill>
                  <a:srgbClr val="F6C453"/>
                </a:solidFill>
                <a:latin typeface="Calibri"/>
              </a:rPr>
              <a:t>Red dot: assignee</a:t>
            </a:r>
          </a:p>
        </p:txBody>
      </p:sp>
      <p:sp>
        <p:nvSpPr>
          <p:cNvPr id="13" name="Rounded Rectangle 12"/>
          <p:cNvSpPr/>
          <p:nvPr/>
        </p:nvSpPr>
        <p:spPr>
          <a:xfrm>
            <a:off x="4151376" y="1389888"/>
            <a:ext cx="1783080" cy="2331720"/>
          </a:xfrm>
          <a:prstGeom prst="roundRect">
            <a:avLst>
              <a:gd name="adj" fmla="val 8000"/>
            </a:avLst>
          </a:prstGeom>
          <a:solidFill>
            <a:srgbClr val="E6F4F1"/>
          </a:solidFill>
          <a:ln w="22225">
            <a:solidFill>
              <a:srgbClr val="0E6B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24528" y="1463040"/>
            <a:ext cx="1645920" cy="2148840"/>
          </a:xfrm>
          <a:prstGeom prst="rect">
            <a:avLst/>
          </a:prstGeom>
          <a:noFill/>
        </p:spPr>
        <p:txBody>
          <a:bodyPr wrap="square" lIns="36576" rIns="36576" tIns="18288" bIns="18288" anchor="t"/>
          <a:lstStyle/>
          <a:p>
            <a:pPr algn="l">
              <a:spcBef>
                <a:spcPts val="0"/>
              </a:spcBef>
              <a:spcAft>
                <a:spcPts val="0"/>
              </a:spcAft>
            </a:pPr>
            <a:r>
              <a:rPr sz="1200" b="1">
                <a:solidFill>
                  <a:srgbClr val="0E6B5C"/>
                </a:solidFill>
                <a:latin typeface="Calibri"/>
              </a:rPr>
              <a:t>3  Teams</a:t>
            </a:r>
          </a:p>
          <a:p>
            <a:pPr algn="l">
              <a:spcBef>
                <a:spcPts val="400"/>
              </a:spcBef>
              <a:spcAft>
                <a:spcPts val="0"/>
              </a:spcAft>
            </a:pPr>
            <a:r>
              <a:rPr sz="1200" b="0">
                <a:solidFill>
                  <a:srgbClr val="374151"/>
                </a:solidFill>
                <a:latin typeface="Calibri"/>
              </a:rPr>
              <a:t>The question</a:t>
            </a:r>
          </a:p>
          <a:p>
            <a:pPr algn="l">
              <a:spcBef>
                <a:spcPts val="100"/>
              </a:spcBef>
              <a:spcAft>
                <a:spcPts val="0"/>
              </a:spcAft>
            </a:pPr>
            <a:r>
              <a:rPr sz="1200" b="0">
                <a:solidFill>
                  <a:srgbClr val="374151"/>
                </a:solidFill>
                <a:latin typeface="Calibri"/>
              </a:rPr>
              <a:t>One technical line</a:t>
            </a:r>
          </a:p>
          <a:p>
            <a:pPr algn="l">
              <a:spcBef>
                <a:spcPts val="100"/>
              </a:spcBef>
              <a:spcAft>
                <a:spcPts val="0"/>
              </a:spcAft>
            </a:pPr>
            <a:r>
              <a:rPr sz="1200" b="1">
                <a:solidFill>
                  <a:srgbClr val="B91C1C"/>
                </a:solidFill>
                <a:latin typeface="Calibri"/>
              </a:rPr>
              <a:t>Red dot: who asks</a:t>
            </a:r>
          </a:p>
        </p:txBody>
      </p:sp>
      <p:sp>
        <p:nvSpPr>
          <p:cNvPr id="15" name="Rounded Rectangle 14"/>
          <p:cNvSpPr/>
          <p:nvPr/>
        </p:nvSpPr>
        <p:spPr>
          <a:xfrm>
            <a:off x="6126480" y="1389888"/>
            <a:ext cx="1783080" cy="2331720"/>
          </a:xfrm>
          <a:prstGeom prst="roundRect">
            <a:avLst>
              <a:gd name="adj" fmla="val 8000"/>
            </a:avLst>
          </a:prstGeom>
          <a:solidFill>
            <a:srgbClr val="FFF4E8"/>
          </a:solidFill>
          <a:ln w="15875">
            <a:solidFill>
              <a:srgbClr val="C456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99632" y="1463040"/>
            <a:ext cx="1645920" cy="2148840"/>
          </a:xfrm>
          <a:prstGeom prst="rect">
            <a:avLst/>
          </a:prstGeom>
          <a:noFill/>
        </p:spPr>
        <p:txBody>
          <a:bodyPr wrap="square" lIns="36576" rIns="36576" tIns="18288" bIns="18288" anchor="t"/>
          <a:lstStyle/>
          <a:p>
            <a:pPr algn="l">
              <a:spcBef>
                <a:spcPts val="0"/>
              </a:spcBef>
              <a:spcAft>
                <a:spcPts val="0"/>
              </a:spcAft>
            </a:pPr>
            <a:r>
              <a:rPr sz="1200" b="1">
                <a:solidFill>
                  <a:srgbClr val="C4560A"/>
                </a:solidFill>
                <a:latin typeface="Calibri"/>
              </a:rPr>
              <a:t>4  PagerDuty AI</a:t>
            </a:r>
          </a:p>
          <a:p>
            <a:pPr algn="l">
              <a:spcBef>
                <a:spcPts val="400"/>
              </a:spcBef>
              <a:spcAft>
                <a:spcPts val="0"/>
              </a:spcAft>
            </a:pPr>
            <a:r>
              <a:rPr sz="1200" b="0">
                <a:solidFill>
                  <a:srgbClr val="374151"/>
                </a:solidFill>
                <a:latin typeface="Calibri"/>
              </a:rPr>
              <a:t>SRE catch-up</a:t>
            </a:r>
          </a:p>
          <a:p>
            <a:pPr algn="l">
              <a:spcBef>
                <a:spcPts val="100"/>
              </a:spcBef>
              <a:spcAft>
                <a:spcPts val="0"/>
              </a:spcAft>
            </a:pPr>
            <a:r>
              <a:rPr sz="1200" b="0">
                <a:solidFill>
                  <a:srgbClr val="374151"/>
                </a:solidFill>
                <a:latin typeface="Calibri"/>
              </a:rPr>
              <a:t>Scribe note</a:t>
            </a:r>
          </a:p>
          <a:p>
            <a:pPr algn="l">
              <a:spcBef>
                <a:spcPts val="100"/>
              </a:spcBef>
              <a:spcAft>
                <a:spcPts val="0"/>
              </a:spcAft>
            </a:pPr>
            <a:r>
              <a:rPr sz="1200" b="0">
                <a:solidFill>
                  <a:srgbClr val="374151"/>
                </a:solidFill>
                <a:latin typeface="Calibri"/>
              </a:rPr>
              <a:t>Insights if enabled</a:t>
            </a:r>
          </a:p>
        </p:txBody>
      </p:sp>
      <p:sp>
        <p:nvSpPr>
          <p:cNvPr id="17" name="Rounded Rectangle 16"/>
          <p:cNvSpPr/>
          <p:nvPr/>
        </p:nvSpPr>
        <p:spPr>
          <a:xfrm>
            <a:off x="8101583" y="1389888"/>
            <a:ext cx="1783080" cy="2331720"/>
          </a:xfrm>
          <a:prstGeom prst="roundRect">
            <a:avLst>
              <a:gd name="adj" fmla="val 8000"/>
            </a:avLst>
          </a:prstGeom>
          <a:solidFill>
            <a:srgbClr val="FEF2F2"/>
          </a:solidFill>
          <a:ln w="2222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74736" y="1463040"/>
            <a:ext cx="1645920" cy="2148840"/>
          </a:xfrm>
          <a:prstGeom prst="rect">
            <a:avLst/>
          </a:prstGeom>
          <a:noFill/>
        </p:spPr>
        <p:txBody>
          <a:bodyPr wrap="square" lIns="36576" rIns="36576" tIns="18288" bIns="18288" anchor="t"/>
          <a:lstStyle/>
          <a:p>
            <a:pPr algn="l">
              <a:spcBef>
                <a:spcPts val="0"/>
              </a:spcBef>
              <a:spcAft>
                <a:spcPts val="0"/>
              </a:spcAft>
            </a:pPr>
            <a:r>
              <a:rPr sz="1200" b="1">
                <a:solidFill>
                  <a:srgbClr val="B91C1C"/>
                </a:solidFill>
                <a:latin typeface="Calibri"/>
              </a:rPr>
              <a:t>5  Text reply</a:t>
            </a:r>
          </a:p>
          <a:p>
            <a:pPr algn="l">
              <a:spcBef>
                <a:spcPts val="400"/>
              </a:spcBef>
              <a:spcAft>
                <a:spcPts val="0"/>
              </a:spcAft>
            </a:pPr>
            <a:r>
              <a:rPr sz="1200" b="0">
                <a:solidFill>
                  <a:srgbClr val="374151"/>
                </a:solidFill>
                <a:latin typeface="Calibri"/>
              </a:rPr>
              <a:t>Catch-up or note</a:t>
            </a:r>
          </a:p>
          <a:p>
            <a:pPr algn="l">
              <a:spcBef>
                <a:spcPts val="100"/>
              </a:spcBef>
              <a:spcAft>
                <a:spcPts val="0"/>
              </a:spcAft>
            </a:pPr>
            <a:r>
              <a:rPr sz="1200" b="0">
                <a:solidFill>
                  <a:srgbClr val="374151"/>
                </a:solidFill>
                <a:latin typeface="Calibri"/>
              </a:rPr>
              <a:t>Status draft</a:t>
            </a:r>
          </a:p>
          <a:p>
            <a:pPr algn="l">
              <a:spcBef>
                <a:spcPts val="100"/>
              </a:spcBef>
              <a:spcAft>
                <a:spcPts val="0"/>
              </a:spcAft>
            </a:pPr>
            <a:r>
              <a:rPr sz="1200" b="1">
                <a:solidFill>
                  <a:srgbClr val="B91C1C"/>
                </a:solidFill>
                <a:latin typeface="Calibri"/>
              </a:rPr>
              <a:t>Red dot if name repeats</a:t>
            </a:r>
          </a:p>
        </p:txBody>
      </p:sp>
      <p:sp>
        <p:nvSpPr>
          <p:cNvPr id="19" name="Rounded Rectangle 18"/>
          <p:cNvSpPr/>
          <p:nvPr/>
        </p:nvSpPr>
        <p:spPr>
          <a:xfrm>
            <a:off x="10076688" y="1389888"/>
            <a:ext cx="1783080" cy="2331720"/>
          </a:xfrm>
          <a:prstGeom prst="roundRect">
            <a:avLst>
              <a:gd name="adj" fmla="val 8000"/>
            </a:avLst>
          </a:prstGeom>
          <a:solidFill>
            <a:srgbClr val="F3F4F6"/>
          </a:solidFill>
          <a:ln w="15875">
            <a:solidFill>
              <a:srgbClr val="3741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0" y="1463040"/>
            <a:ext cx="1645920" cy="2148840"/>
          </a:xfrm>
          <a:prstGeom prst="rect">
            <a:avLst/>
          </a:prstGeom>
          <a:noFill/>
        </p:spPr>
        <p:txBody>
          <a:bodyPr wrap="square" lIns="36576" rIns="36576" tIns="18288" bIns="18288" anchor="t"/>
          <a:lstStyle/>
          <a:p>
            <a:pPr algn="l">
              <a:spcBef>
                <a:spcPts val="0"/>
              </a:spcBef>
              <a:spcAft>
                <a:spcPts val="0"/>
              </a:spcAft>
            </a:pPr>
            <a:r>
              <a:rPr sz="1200" b="1">
                <a:solidFill>
                  <a:srgbClr val="374151"/>
                </a:solidFill>
                <a:latin typeface="Calibri"/>
              </a:rPr>
              <a:t>6  Person</a:t>
            </a:r>
          </a:p>
          <a:p>
            <a:pPr algn="l">
              <a:spcBef>
                <a:spcPts val="400"/>
              </a:spcBef>
              <a:spcAft>
                <a:spcPts val="0"/>
              </a:spcAft>
            </a:pPr>
            <a:r>
              <a:rPr sz="1200" b="0">
                <a:solidFill>
                  <a:srgbClr val="374151"/>
                </a:solidFill>
                <a:latin typeface="Calibri"/>
              </a:rPr>
              <a:t>Checks the text</a:t>
            </a:r>
          </a:p>
          <a:p>
            <a:pPr algn="l">
              <a:spcBef>
                <a:spcPts val="100"/>
              </a:spcBef>
              <a:spcAft>
                <a:spcPts val="0"/>
              </a:spcAft>
            </a:pPr>
            <a:r>
              <a:rPr sz="1200" b="0">
                <a:solidFill>
                  <a:srgbClr val="374151"/>
                </a:solidFill>
                <a:latin typeface="Calibri"/>
              </a:rPr>
              <a:t>Acts in PagerDuty</a:t>
            </a:r>
          </a:p>
          <a:p>
            <a:pPr algn="l">
              <a:spcBef>
                <a:spcPts val="100"/>
              </a:spcBef>
              <a:spcAft>
                <a:spcPts val="0"/>
              </a:spcAft>
            </a:pPr>
            <a:r>
              <a:rPr sz="1200" b="0">
                <a:solidFill>
                  <a:srgbClr val="374151"/>
                </a:solidFill>
                <a:latin typeface="Calibri"/>
              </a:rPr>
              <a:t>Files correlation</a:t>
            </a:r>
          </a:p>
        </p:txBody>
      </p:sp>
      <p:cxnSp>
        <p:nvCxnSpPr>
          <p:cNvPr id="21" name="Connector 20"/>
          <p:cNvCxnSpPr/>
          <p:nvPr/>
        </p:nvCxnSpPr>
        <p:spPr>
          <a:xfrm>
            <a:off x="1984248" y="2514600"/>
            <a:ext cx="192024" cy="0"/>
          </a:xfrm>
          <a:prstGeom prst="line">
            <a:avLst/>
          </a:prstGeom>
          <a:ln w="22225">
            <a:solidFill>
              <a:srgbClr val="0F2C4C"/>
            </a:solidFill>
            <a:headEnd type="triangle" w="med" h="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959352" y="2514600"/>
            <a:ext cx="192024" cy="0"/>
          </a:xfrm>
          <a:prstGeom prst="line">
            <a:avLst/>
          </a:prstGeom>
          <a:ln w="22225">
            <a:solidFill>
              <a:srgbClr val="0F2C4C"/>
            </a:solidFill>
            <a:headEnd type="triangle" w="med" h="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934456" y="2514600"/>
            <a:ext cx="192024" cy="0"/>
          </a:xfrm>
          <a:prstGeom prst="line">
            <a:avLst/>
          </a:prstGeom>
          <a:ln w="22225">
            <a:solidFill>
              <a:srgbClr val="0F2C4C"/>
            </a:solidFill>
            <a:headEnd type="triangle" w="med" h="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909560" y="2514600"/>
            <a:ext cx="192023" cy="0"/>
          </a:xfrm>
          <a:prstGeom prst="line">
            <a:avLst/>
          </a:prstGeom>
          <a:ln w="22225">
            <a:solidFill>
              <a:srgbClr val="0F2C4C"/>
            </a:solidFill>
            <a:headEnd type="triangle" w="med" h="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884663" y="2514600"/>
            <a:ext cx="192025" cy="0"/>
          </a:xfrm>
          <a:prstGeom prst="line">
            <a:avLst/>
          </a:prstGeom>
          <a:ln w="22225">
            <a:solidFill>
              <a:srgbClr val="0F2C4C"/>
            </a:solidFill>
            <a:headEnd type="triangle" w="med" h="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56032" y="3840480"/>
            <a:ext cx="11612880" cy="292608"/>
          </a:xfrm>
          <a:prstGeom prst="rect">
            <a:avLst/>
          </a:prstGeom>
          <a:noFill/>
        </p:spPr>
        <p:txBody>
          <a:bodyPr wrap="square" lIns="36576" rIns="36576" tIns="18288" bIns="18288" anchor="t"/>
          <a:lstStyle/>
          <a:p>
            <a:pPr algn="l">
              <a:spcBef>
                <a:spcPts val="0"/>
              </a:spcBef>
              <a:spcAft>
                <a:spcPts val="0"/>
              </a:spcAft>
            </a:pPr>
            <a:r>
              <a:rPr sz="1300" b="0">
                <a:solidFill>
                  <a:srgbClr val="374151"/>
                </a:solidFill>
                <a:latin typeface="Calibri"/>
              </a:rPr>
              <a:t>Call and SMS stay inside PagerDuty and go to BAM-India. The on-call number is not copied into the AI prompt. Shift has no arrow.</a:t>
            </a:r>
          </a:p>
        </p:txBody>
      </p:sp>
      <p:sp>
        <p:nvSpPr>
          <p:cNvPr id="27" name="Rounded Rectangle 26"/>
          <p:cNvSpPr/>
          <p:nvPr/>
        </p:nvSpPr>
        <p:spPr>
          <a:xfrm>
            <a:off x="256032" y="4251960"/>
            <a:ext cx="3794760" cy="1325880"/>
          </a:xfrm>
          <a:prstGeom prst="roundRect">
            <a:avLst>
              <a:gd name="adj" fmla="val 8000"/>
            </a:avLst>
          </a:prstGeom>
          <a:solidFill>
            <a:srgbClr val="FEF2F2"/>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65760" y="4370832"/>
            <a:ext cx="164592" cy="164592"/>
          </a:xfrm>
          <a:prstGeom prst="ellipse">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03504" y="4315968"/>
            <a:ext cx="3337560" cy="1143000"/>
          </a:xfrm>
          <a:prstGeom prst="rect">
            <a:avLst/>
          </a:prstGeom>
          <a:noFill/>
        </p:spPr>
        <p:txBody>
          <a:bodyPr wrap="square" lIns="36576" rIns="36576" tIns="18288" bIns="18288" anchor="t"/>
          <a:lstStyle/>
          <a:p>
            <a:pPr algn="l">
              <a:spcBef>
                <a:spcPts val="0"/>
              </a:spcBef>
              <a:spcAft>
                <a:spcPts val="0"/>
              </a:spcAft>
            </a:pPr>
            <a:r>
              <a:rPr sz="1300" b="1">
                <a:solidFill>
                  <a:srgbClr val="B91C1C"/>
                </a:solidFill>
                <a:latin typeface="Calibri"/>
              </a:rPr>
              <a:t>Red dot on step 2</a:t>
            </a:r>
          </a:p>
          <a:p>
            <a:pPr algn="l">
              <a:spcBef>
                <a:spcPts val="400"/>
              </a:spcBef>
              <a:spcAft>
                <a:spcPts val="0"/>
              </a:spcAft>
            </a:pPr>
            <a:r>
              <a:rPr sz="1200" b="0">
                <a:solidFill>
                  <a:srgbClr val="374151"/>
                </a:solidFill>
                <a:latin typeface="Calibri"/>
              </a:rPr>
              <a:t>Assignee display name on the PagerDuty incident. That is the on-call employee’s name.</a:t>
            </a:r>
          </a:p>
        </p:txBody>
      </p:sp>
      <p:sp>
        <p:nvSpPr>
          <p:cNvPr id="30" name="Rounded Rectangle 29"/>
          <p:cNvSpPr/>
          <p:nvPr/>
        </p:nvSpPr>
        <p:spPr>
          <a:xfrm>
            <a:off x="4233672" y="4251960"/>
            <a:ext cx="3794760" cy="1325880"/>
          </a:xfrm>
          <a:prstGeom prst="roundRect">
            <a:avLst>
              <a:gd name="adj" fmla="val 8000"/>
            </a:avLst>
          </a:prstGeom>
          <a:solidFill>
            <a:srgbClr val="FEF2F2"/>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343400" y="4370832"/>
            <a:ext cx="164592" cy="164592"/>
          </a:xfrm>
          <a:prstGeom prst="ellipse">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81144" y="4315968"/>
            <a:ext cx="3337560" cy="1143000"/>
          </a:xfrm>
          <a:prstGeom prst="rect">
            <a:avLst/>
          </a:prstGeom>
          <a:noFill/>
        </p:spPr>
        <p:txBody>
          <a:bodyPr wrap="square" lIns="36576" rIns="36576" tIns="18288" bIns="18288" anchor="t"/>
          <a:lstStyle/>
          <a:p>
            <a:pPr algn="l">
              <a:spcBef>
                <a:spcPts val="0"/>
              </a:spcBef>
              <a:spcAft>
                <a:spcPts val="0"/>
              </a:spcAft>
            </a:pPr>
            <a:r>
              <a:rPr sz="1300" b="1">
                <a:solidFill>
                  <a:srgbClr val="B91C1C"/>
                </a:solidFill>
                <a:latin typeface="Calibri"/>
              </a:rPr>
              <a:t>Red dot on step 3</a:t>
            </a:r>
          </a:p>
          <a:p>
            <a:pPr algn="l">
              <a:spcBef>
                <a:spcPts val="400"/>
              </a:spcBef>
              <a:spcAft>
                <a:spcPts val="0"/>
              </a:spcAft>
            </a:pPr>
            <a:r>
              <a:rPr sz="1200" b="0">
                <a:solidFill>
                  <a:srgbClr val="374151"/>
                </a:solidFill>
                <a:latin typeface="Calibri"/>
              </a:rPr>
              <a:t>Teams identity of the person who types the question in the war-room channel.</a:t>
            </a:r>
          </a:p>
        </p:txBody>
      </p:sp>
      <p:sp>
        <p:nvSpPr>
          <p:cNvPr id="33" name="Rounded Rectangle 32"/>
          <p:cNvSpPr/>
          <p:nvPr/>
        </p:nvSpPr>
        <p:spPr>
          <a:xfrm>
            <a:off x="8211311" y="4251960"/>
            <a:ext cx="3794760" cy="1325880"/>
          </a:xfrm>
          <a:prstGeom prst="roundRect">
            <a:avLst>
              <a:gd name="adj" fmla="val 8000"/>
            </a:avLst>
          </a:prstGeom>
          <a:solidFill>
            <a:srgbClr val="FEF2F2"/>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21039" y="4370832"/>
            <a:ext cx="164592" cy="164592"/>
          </a:xfrm>
          <a:prstGeom prst="ellipse">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58784" y="4315968"/>
            <a:ext cx="3337560" cy="1143000"/>
          </a:xfrm>
          <a:prstGeom prst="rect">
            <a:avLst/>
          </a:prstGeom>
          <a:noFill/>
        </p:spPr>
        <p:txBody>
          <a:bodyPr wrap="square" lIns="36576" rIns="36576" tIns="18288" bIns="18288" anchor="t"/>
          <a:lstStyle/>
          <a:p>
            <a:pPr algn="l">
              <a:spcBef>
                <a:spcPts val="0"/>
              </a:spcBef>
              <a:spcAft>
                <a:spcPts val="0"/>
              </a:spcAft>
            </a:pPr>
            <a:r>
              <a:rPr sz="1300" b="1">
                <a:solidFill>
                  <a:srgbClr val="B91C1C"/>
                </a:solidFill>
                <a:latin typeface="Calibri"/>
              </a:rPr>
              <a:t>Red dot on step 5</a:t>
            </a:r>
          </a:p>
          <a:p>
            <a:pPr algn="l">
              <a:spcBef>
                <a:spcPts val="400"/>
              </a:spcBef>
              <a:spcAft>
                <a:spcPts val="0"/>
              </a:spcAft>
            </a:pPr>
            <a:r>
              <a:rPr sz="1200" b="0">
                <a:solidFill>
                  <a:srgbClr val="374151"/>
                </a:solidFill>
                <a:latin typeface="Calibri"/>
              </a:rPr>
              <a:t>An employee name spoken on the bridge, if the Scribe note repeats it.</a:t>
            </a:r>
          </a:p>
        </p:txBody>
      </p:sp>
      <p:sp>
        <p:nvSpPr>
          <p:cNvPr id="36" name="TextBox 35"/>
          <p:cNvSpPr txBox="1"/>
          <p:nvPr/>
        </p:nvSpPr>
        <p:spPr>
          <a:xfrm>
            <a:off x="256032" y="5715000"/>
            <a:ext cx="11612880" cy="868680"/>
          </a:xfrm>
          <a:prstGeom prst="rect">
            <a:avLst/>
          </a:prstGeom>
          <a:noFill/>
        </p:spPr>
        <p:txBody>
          <a:bodyPr wrap="square" lIns="36576" rIns="36576" tIns="18288" bIns="18288" anchor="t"/>
          <a:lstStyle/>
          <a:p>
            <a:pPr algn="l">
              <a:spcBef>
                <a:spcPts val="0"/>
              </a:spcBef>
              <a:spcAft>
                <a:spcPts val="0"/>
              </a:spcAft>
            </a:pPr>
            <a:r>
              <a:rPr sz="1300" b="1">
                <a:solidFill>
                  <a:srgbClr val="0F2C4C"/>
                </a:solidFill>
                <a:latin typeface="Calibri"/>
              </a:rPr>
              <a:t>Left off this picture</a:t>
            </a:r>
          </a:p>
          <a:p>
            <a:pPr algn="l">
              <a:spcBef>
                <a:spcPts val="200"/>
              </a:spcBef>
              <a:spcAft>
                <a:spcPts val="0"/>
              </a:spcAft>
            </a:pPr>
            <a:r>
              <a:rPr sz="1300" b="0">
                <a:solidFill>
                  <a:srgbClr val="374151"/>
                </a:solidFill>
                <a:latin typeface="Calibri"/>
              </a:rPr>
              <a:t>Customer date of birth, My Number, financial fields, and health fields.</a:t>
            </a:r>
          </a:p>
          <a:p>
            <a:pPr algn="l">
              <a:spcBef>
                <a:spcPts val="0"/>
              </a:spcBef>
              <a:spcAft>
                <a:spcPts val="0"/>
              </a:spcAft>
            </a:pPr>
            <a:r>
              <a:rPr sz="1300" b="0">
                <a:solidFill>
                  <a:srgbClr val="374151"/>
                </a:solidFill>
                <a:latin typeface="Calibri"/>
              </a:rPr>
              <a:t>The paging phone number stays in the PagerDuty notification.</a:t>
            </a:r>
          </a:p>
          <a:p>
            <a:pPr algn="l">
              <a:spcBef>
                <a:spcPts val="0"/>
              </a:spcBef>
              <a:spcAft>
                <a:spcPts val="0"/>
              </a:spcAft>
            </a:pPr>
            <a:r>
              <a:rPr sz="1300" b="0">
                <a:solidFill>
                  <a:srgbClr val="374151"/>
                </a:solidFill>
                <a:latin typeface="Calibri"/>
              </a:rPr>
              <a:t>The on-call schedule is not sent, so Shift produces no output in this pilot.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PagerDuty AI — Architecture and Data Flow</dc:title>
  <dc:subject>AXA Gate 0, ALJ and ADJ (P&amp;C), 24x7 war room</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