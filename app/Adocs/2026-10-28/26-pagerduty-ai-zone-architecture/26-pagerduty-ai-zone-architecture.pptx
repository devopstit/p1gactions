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left to right, the same way as the APM architecture page. Zone 1 is the detectors AXA already runs. They send an HTTPS event to PagerDuty. Zone 2 is the PagerDuty cloud. Incident, call, SMS, and escalation already live there. PagerDuty AI is the new box inside that cloud. It returns summary, a cause draft, a status draft, and a Scribe note. Sign-in is Microsoft Entra ID with SAML 2.0 and MFA. Zone 3 is the Teams channel monitoring-2026-prod. Primary asks there and checks the reply. BAM-India still gets the call and SMS. ServiceNow and Silva stay the correlation step. The PIR is published only after Primary replaces the draft cause. Confirm the PagerDuty service region with the account owner. Do not copy the APM Singapore layout onto this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12064"/>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7744" y="36576"/>
            <a:ext cx="7772400" cy="256032"/>
          </a:xfrm>
          <a:prstGeom prst="rect">
            <a:avLst/>
          </a:prstGeom>
          <a:noFill/>
        </p:spPr>
        <p:txBody>
          <a:bodyPr wrap="square" lIns="45720" rIns="36576" tIns="18288" bIns="9144"/>
          <a:lstStyle/>
          <a:p>
            <a:pPr algn="l">
              <a:spcBef>
                <a:spcPts val="0"/>
              </a:spcBef>
              <a:spcAft>
                <a:spcPts val="0"/>
              </a:spcAft>
            </a:pPr>
            <a:r>
              <a:rPr sz="2200" b="1">
                <a:solidFill>
                  <a:srgbClr val="FFFFFF"/>
                </a:solidFill>
                <a:latin typeface="Calibri"/>
              </a:rPr>
              <a:t>PagerDuty AI Architecture</a:t>
            </a:r>
          </a:p>
        </p:txBody>
      </p:sp>
      <p:sp>
        <p:nvSpPr>
          <p:cNvPr id="5" name="TextBox 4"/>
          <p:cNvSpPr txBox="1"/>
          <p:nvPr/>
        </p:nvSpPr>
        <p:spPr>
          <a:xfrm>
            <a:off x="256032" y="274320"/>
            <a:ext cx="8412480" cy="201168"/>
          </a:xfrm>
          <a:prstGeom prst="rect">
            <a:avLst/>
          </a:prstGeom>
          <a:noFill/>
        </p:spPr>
        <p:txBody>
          <a:bodyPr wrap="square" lIns="45720" rIns="36576" tIns="18288" bIns="9144"/>
          <a:lstStyle/>
          <a:p>
            <a:pPr algn="l">
              <a:spcBef>
                <a:spcPts val="0"/>
              </a:spcBef>
              <a:spcAft>
                <a:spcPts val="0"/>
              </a:spcAft>
            </a:pPr>
            <a:r>
              <a:rPr sz="1200" b="0">
                <a:solidFill>
                  <a:srgbClr val="D6E4F0"/>
                </a:solidFill>
                <a:latin typeface="Calibri"/>
              </a:rPr>
              <a:t>Zone picture for the 24x7 war-room assist. ALJ and ADJ (P&amp;C).</a:t>
            </a:r>
          </a:p>
        </p:txBody>
      </p:sp>
      <p:sp>
        <p:nvSpPr>
          <p:cNvPr id="6" name="Rounded Rectangle 5"/>
          <p:cNvSpPr/>
          <p:nvPr/>
        </p:nvSpPr>
        <p:spPr>
          <a:xfrm>
            <a:off x="164592" y="603504"/>
            <a:ext cx="11887200" cy="438912"/>
          </a:xfrm>
          <a:prstGeom prst="roundRect">
            <a:avLst>
              <a:gd name="adj" fmla="val 8000"/>
            </a:avLst>
          </a:prstGeom>
          <a:solidFill>
            <a:srgbClr val="FFF6CC"/>
          </a:solidFill>
          <a:ln w="12700">
            <a:solidFill>
              <a:srgbClr val="C49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640080"/>
            <a:ext cx="11704320" cy="365760"/>
          </a:xfrm>
          <a:prstGeom prst="rect">
            <a:avLst/>
          </a:prstGeom>
          <a:noFill/>
        </p:spPr>
        <p:txBody>
          <a:bodyPr wrap="square" lIns="45720" rIns="36576" tIns="18288" bIns="9144"/>
          <a:lstStyle/>
          <a:p>
            <a:pPr algn="l">
              <a:spcBef>
                <a:spcPts val="0"/>
              </a:spcBef>
              <a:spcAft>
                <a:spcPts val="0"/>
              </a:spcAft>
            </a:pPr>
            <a:r>
              <a:rPr sz="1200" b="0">
                <a:solidFill>
                  <a:srgbClr val="374151"/>
                </a:solidFill>
                <a:latin typeface="Calibri"/>
              </a:rPr>
              <a:t>Same kind of picture as the APM architecture page: zones, a platform in the middle, a label on every line.</a:t>
            </a:r>
          </a:p>
          <a:p>
            <a:pPr algn="l">
              <a:spcBef>
                <a:spcPts val="0"/>
              </a:spcBef>
              <a:spcAft>
                <a:spcPts val="0"/>
              </a:spcAft>
            </a:pPr>
            <a:r>
              <a:rPr sz="1200" b="0">
                <a:solidFill>
                  <a:srgbClr val="374151"/>
                </a:solidFill>
                <a:latin typeface="Calibri"/>
              </a:rPr>
              <a:t>The only new box is PagerDuty AI, inside the PagerDuty cloud. This is not the APM or MultiSoft platform.</a:t>
            </a:r>
          </a:p>
        </p:txBody>
      </p:sp>
      <p:sp>
        <p:nvSpPr>
          <p:cNvPr id="8" name="Rounded Rectangle 7"/>
          <p:cNvSpPr/>
          <p:nvPr/>
        </p:nvSpPr>
        <p:spPr>
          <a:xfrm>
            <a:off x="164592" y="1152144"/>
            <a:ext cx="2880360" cy="4069080"/>
          </a:xfrm>
          <a:prstGeom prst="roundRect">
            <a:avLst>
              <a:gd name="adj" fmla="val 4000"/>
            </a:avLst>
          </a:prstGeom>
          <a:solidFill>
            <a:srgbClr val="EEF3F8"/>
          </a:solidFill>
          <a:ln w="17145">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1188720"/>
            <a:ext cx="2697480" cy="256032"/>
          </a:xfrm>
          <a:prstGeom prst="rect">
            <a:avLst/>
          </a:prstGeom>
          <a:noFill/>
        </p:spPr>
        <p:txBody>
          <a:bodyPr wrap="square" lIns="45720" rIns="36576" tIns="18288" bIns="9144"/>
          <a:lstStyle/>
          <a:p>
            <a:pPr algn="l">
              <a:spcBef>
                <a:spcPts val="0"/>
              </a:spcBef>
              <a:spcAft>
                <a:spcPts val="0"/>
              </a:spcAft>
            </a:pPr>
            <a:r>
              <a:rPr sz="1300" b="1">
                <a:solidFill>
                  <a:srgbClr val="0F2C4C"/>
                </a:solidFill>
                <a:latin typeface="Calibri"/>
              </a:rPr>
              <a:t>1  Signal sources</a:t>
            </a:r>
          </a:p>
        </p:txBody>
      </p:sp>
      <p:sp>
        <p:nvSpPr>
          <p:cNvPr id="10" name="Rounded Rectangle 9"/>
          <p:cNvSpPr/>
          <p:nvPr/>
        </p:nvSpPr>
        <p:spPr>
          <a:xfrm>
            <a:off x="292608" y="1499616"/>
            <a:ext cx="2633472" cy="512064"/>
          </a:xfrm>
          <a:prstGeom prst="roundRect">
            <a:avLst>
              <a:gd name="adj" fmla="val 8000"/>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517904"/>
            <a:ext cx="2487168" cy="457200"/>
          </a:xfrm>
          <a:prstGeom prst="rect">
            <a:avLst/>
          </a:prstGeom>
          <a:noFill/>
        </p:spPr>
        <p:txBody>
          <a:bodyPr wrap="square" lIns="45720" rIns="36576" tIns="18288" bIns="9144"/>
          <a:lstStyle/>
          <a:p>
            <a:pPr algn="l">
              <a:spcBef>
                <a:spcPts val="0"/>
              </a:spcBef>
              <a:spcAft>
                <a:spcPts val="0"/>
              </a:spcAft>
            </a:pPr>
            <a:r>
              <a:rPr sz="1200" b="1">
                <a:solidFill>
                  <a:srgbClr val="0F2C4C"/>
                </a:solidFill>
                <a:latin typeface="Calibri"/>
              </a:rPr>
              <a:t>Dynatrace</a:t>
            </a:r>
          </a:p>
          <a:p>
            <a:pPr algn="l">
              <a:spcBef>
                <a:spcPts val="0"/>
              </a:spcBef>
              <a:spcAft>
                <a:spcPts val="0"/>
              </a:spcAft>
            </a:pPr>
            <a:r>
              <a:rPr sz="1100" b="0">
                <a:solidFill>
                  <a:srgbClr val="374151"/>
                </a:solidFill>
                <a:latin typeface="Calibri"/>
              </a:rPr>
              <a:t>APM, user, synthetic, host</a:t>
            </a:r>
          </a:p>
        </p:txBody>
      </p:sp>
      <p:sp>
        <p:nvSpPr>
          <p:cNvPr id="12" name="Rounded Rectangle 11"/>
          <p:cNvSpPr/>
          <p:nvPr/>
        </p:nvSpPr>
        <p:spPr>
          <a:xfrm>
            <a:off x="292608" y="2084831"/>
            <a:ext cx="2633472" cy="512064"/>
          </a:xfrm>
          <a:prstGeom prst="roundRect">
            <a:avLst>
              <a:gd name="adj" fmla="val 8000"/>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103120"/>
            <a:ext cx="2487168" cy="457200"/>
          </a:xfrm>
          <a:prstGeom prst="rect">
            <a:avLst/>
          </a:prstGeom>
          <a:noFill/>
        </p:spPr>
        <p:txBody>
          <a:bodyPr wrap="square" lIns="45720" rIns="36576" tIns="18288" bIns="9144"/>
          <a:lstStyle/>
          <a:p>
            <a:pPr algn="l">
              <a:spcBef>
                <a:spcPts val="0"/>
              </a:spcBef>
              <a:spcAft>
                <a:spcPts val="0"/>
              </a:spcAft>
            </a:pPr>
            <a:r>
              <a:rPr sz="1200" b="1">
                <a:solidFill>
                  <a:srgbClr val="0F2C4C"/>
                </a:solidFill>
                <a:latin typeface="Calibri"/>
              </a:rPr>
              <a:t>Splunk</a:t>
            </a:r>
          </a:p>
          <a:p>
            <a:pPr algn="l">
              <a:spcBef>
                <a:spcPts val="0"/>
              </a:spcBef>
              <a:spcAft>
                <a:spcPts val="0"/>
              </a:spcAft>
            </a:pPr>
            <a:r>
              <a:rPr sz="1100" b="0">
                <a:solidFill>
                  <a:srgbClr val="374151"/>
                </a:solidFill>
                <a:latin typeface="Calibri"/>
              </a:rPr>
              <a:t>Logs and log alerts</a:t>
            </a:r>
          </a:p>
        </p:txBody>
      </p:sp>
      <p:sp>
        <p:nvSpPr>
          <p:cNvPr id="14" name="Rounded Rectangle 13"/>
          <p:cNvSpPr/>
          <p:nvPr/>
        </p:nvSpPr>
        <p:spPr>
          <a:xfrm>
            <a:off x="292608" y="2670048"/>
            <a:ext cx="2633472" cy="512064"/>
          </a:xfrm>
          <a:prstGeom prst="roundRect">
            <a:avLst>
              <a:gd name="adj" fmla="val 8000"/>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688336"/>
            <a:ext cx="2487168" cy="457200"/>
          </a:xfrm>
          <a:prstGeom prst="rect">
            <a:avLst/>
          </a:prstGeom>
          <a:noFill/>
        </p:spPr>
        <p:txBody>
          <a:bodyPr wrap="square" lIns="45720" rIns="36576" tIns="18288" bIns="9144"/>
          <a:lstStyle/>
          <a:p>
            <a:pPr algn="l">
              <a:spcBef>
                <a:spcPts val="0"/>
              </a:spcBef>
              <a:spcAft>
                <a:spcPts val="0"/>
              </a:spcAft>
            </a:pPr>
            <a:r>
              <a:rPr sz="1200" b="1">
                <a:solidFill>
                  <a:srgbClr val="0F2C4C"/>
                </a:solidFill>
                <a:latin typeface="Calibri"/>
              </a:rPr>
              <a:t>Selenium / Jenkins</a:t>
            </a:r>
          </a:p>
          <a:p>
            <a:pPr algn="l">
              <a:spcBef>
                <a:spcPts val="0"/>
              </a:spcBef>
              <a:spcAft>
                <a:spcPts val="0"/>
              </a:spcAft>
            </a:pPr>
            <a:r>
              <a:rPr sz="1100" b="0">
                <a:solidFill>
                  <a:srgbClr val="374151"/>
                </a:solidFill>
                <a:latin typeface="Calibri"/>
              </a:rPr>
              <a:t>Scripted checks</a:t>
            </a:r>
          </a:p>
        </p:txBody>
      </p:sp>
      <p:sp>
        <p:nvSpPr>
          <p:cNvPr id="16" name="Rounded Rectangle 15"/>
          <p:cNvSpPr/>
          <p:nvPr/>
        </p:nvSpPr>
        <p:spPr>
          <a:xfrm>
            <a:off x="292608" y="3255264"/>
            <a:ext cx="2633472" cy="512064"/>
          </a:xfrm>
          <a:prstGeom prst="roundRect">
            <a:avLst>
              <a:gd name="adj" fmla="val 8000"/>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273552"/>
            <a:ext cx="2487168" cy="457200"/>
          </a:xfrm>
          <a:prstGeom prst="rect">
            <a:avLst/>
          </a:prstGeom>
          <a:noFill/>
        </p:spPr>
        <p:txBody>
          <a:bodyPr wrap="square" lIns="45720" rIns="36576" tIns="18288" bIns="9144"/>
          <a:lstStyle/>
          <a:p>
            <a:pPr algn="l">
              <a:spcBef>
                <a:spcPts val="0"/>
              </a:spcBef>
              <a:spcAft>
                <a:spcPts val="0"/>
              </a:spcAft>
            </a:pPr>
            <a:r>
              <a:rPr sz="1200" b="1">
                <a:solidFill>
                  <a:srgbClr val="0F2C4C"/>
                </a:solidFill>
                <a:latin typeface="Calibri"/>
              </a:rPr>
              <a:t>Network and VM</a:t>
            </a:r>
          </a:p>
          <a:p>
            <a:pPr algn="l">
              <a:spcBef>
                <a:spcPts val="0"/>
              </a:spcBef>
              <a:spcAft>
                <a:spcPts val="0"/>
              </a:spcAft>
            </a:pPr>
            <a:r>
              <a:rPr sz="1100" b="0">
                <a:solidFill>
                  <a:srgbClr val="374151"/>
                </a:solidFill>
                <a:latin typeface="Calibri"/>
              </a:rPr>
              <a:t>VeloCloud, Nagios, SCOM</a:t>
            </a:r>
          </a:p>
        </p:txBody>
      </p:sp>
      <p:sp>
        <p:nvSpPr>
          <p:cNvPr id="18" name="Rounded Rectangle 17"/>
          <p:cNvSpPr/>
          <p:nvPr/>
        </p:nvSpPr>
        <p:spPr>
          <a:xfrm>
            <a:off x="292608" y="3840480"/>
            <a:ext cx="2633472" cy="512064"/>
          </a:xfrm>
          <a:prstGeom prst="roundRect">
            <a:avLst>
              <a:gd name="adj" fmla="val 8000"/>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858768"/>
            <a:ext cx="2487168" cy="457200"/>
          </a:xfrm>
          <a:prstGeom prst="rect">
            <a:avLst/>
          </a:prstGeom>
          <a:noFill/>
        </p:spPr>
        <p:txBody>
          <a:bodyPr wrap="square" lIns="45720" rIns="36576" tIns="18288" bIns="9144"/>
          <a:lstStyle/>
          <a:p>
            <a:pPr algn="l">
              <a:spcBef>
                <a:spcPts val="0"/>
              </a:spcBef>
              <a:spcAft>
                <a:spcPts val="0"/>
              </a:spcAft>
            </a:pPr>
            <a:r>
              <a:rPr sz="1200" b="1">
                <a:solidFill>
                  <a:srgbClr val="0F2C4C"/>
                </a:solidFill>
                <a:latin typeface="Calibri"/>
              </a:rPr>
              <a:t>Cloud tools</a:t>
            </a:r>
          </a:p>
          <a:p>
            <a:pPr algn="l">
              <a:spcBef>
                <a:spcPts val="0"/>
              </a:spcBef>
              <a:spcAft>
                <a:spcPts val="0"/>
              </a:spcAft>
            </a:pPr>
            <a:r>
              <a:rPr sz="1100" b="0">
                <a:solidFill>
                  <a:srgbClr val="374151"/>
                </a:solidFill>
                <a:latin typeface="Calibri"/>
              </a:rPr>
              <a:t>CloudWatch, X-Ray, Prometheus</a:t>
            </a:r>
          </a:p>
        </p:txBody>
      </p:sp>
      <p:sp>
        <p:nvSpPr>
          <p:cNvPr id="20" name="TextBox 19"/>
          <p:cNvSpPr txBox="1"/>
          <p:nvPr/>
        </p:nvSpPr>
        <p:spPr>
          <a:xfrm>
            <a:off x="292608" y="4407408"/>
            <a:ext cx="2633472" cy="685800"/>
          </a:xfrm>
          <a:prstGeom prst="rect">
            <a:avLst/>
          </a:prstGeom>
          <a:noFill/>
        </p:spPr>
        <p:txBody>
          <a:bodyPr wrap="square" lIns="45720" rIns="36576" tIns="18288" bIns="9144"/>
          <a:lstStyle/>
          <a:p>
            <a:pPr algn="l">
              <a:spcBef>
                <a:spcPts val="0"/>
              </a:spcBef>
              <a:spcAft>
                <a:spcPts val="0"/>
              </a:spcAft>
            </a:pPr>
            <a:r>
              <a:rPr sz="1100" b="0">
                <a:solidFill>
                  <a:srgbClr val="374151"/>
                </a:solidFill>
                <a:latin typeface="Calibri"/>
              </a:rPr>
              <a:t>Each tool keeps its current owner.</a:t>
            </a:r>
          </a:p>
          <a:p>
            <a:pPr algn="l">
              <a:spcBef>
                <a:spcPts val="100"/>
              </a:spcBef>
              <a:spcAft>
                <a:spcPts val="0"/>
              </a:spcAft>
            </a:pPr>
            <a:r>
              <a:rPr sz="1100" b="0">
                <a:solidFill>
                  <a:srgbClr val="374151"/>
                </a:solidFill>
                <a:latin typeface="Calibri"/>
              </a:rPr>
              <a:t>Technology DevOps owns Dynatrace, Splunk, and Jenkins.</a:t>
            </a:r>
          </a:p>
        </p:txBody>
      </p:sp>
      <p:sp>
        <p:nvSpPr>
          <p:cNvPr id="21" name="Rounded Rectangle 20"/>
          <p:cNvSpPr/>
          <p:nvPr/>
        </p:nvSpPr>
        <p:spPr>
          <a:xfrm>
            <a:off x="3703320" y="1152144"/>
            <a:ext cx="4709160" cy="4069080"/>
          </a:xfrm>
          <a:prstGeom prst="roundRect">
            <a:avLst>
              <a:gd name="adj" fmla="val 4000"/>
            </a:avLst>
          </a:prstGeom>
          <a:solidFill>
            <a:srgbClr val="E8EEF6"/>
          </a:solidFill>
          <a:ln w="20320">
            <a:solidFill>
              <a:srgbClr val="0F2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03904" y="1188720"/>
            <a:ext cx="4480560" cy="237744"/>
          </a:xfrm>
          <a:prstGeom prst="rect">
            <a:avLst/>
          </a:prstGeom>
          <a:noFill/>
        </p:spPr>
        <p:txBody>
          <a:bodyPr wrap="square" lIns="45720" rIns="36576" tIns="18288" bIns="9144"/>
          <a:lstStyle/>
          <a:p>
            <a:pPr algn="l">
              <a:spcBef>
                <a:spcPts val="0"/>
              </a:spcBef>
              <a:spcAft>
                <a:spcPts val="0"/>
              </a:spcAft>
            </a:pPr>
            <a:r>
              <a:rPr sz="1300" b="1">
                <a:solidFill>
                  <a:srgbClr val="0F2C4C"/>
                </a:solidFill>
                <a:latin typeface="Calibri"/>
              </a:rPr>
              <a:t>2  PagerDuty cloud</a:t>
            </a:r>
          </a:p>
        </p:txBody>
      </p:sp>
      <p:sp>
        <p:nvSpPr>
          <p:cNvPr id="23" name="TextBox 22"/>
          <p:cNvSpPr txBox="1"/>
          <p:nvPr/>
        </p:nvSpPr>
        <p:spPr>
          <a:xfrm>
            <a:off x="3803904" y="1408176"/>
            <a:ext cx="4480560" cy="201168"/>
          </a:xfrm>
          <a:prstGeom prst="rect">
            <a:avLst/>
          </a:prstGeom>
          <a:noFill/>
        </p:spPr>
        <p:txBody>
          <a:bodyPr wrap="square" lIns="45720" rIns="36576" tIns="18288" bIns="9144"/>
          <a:lstStyle/>
          <a:p>
            <a:pPr algn="l">
              <a:spcBef>
                <a:spcPts val="0"/>
              </a:spcBef>
              <a:spcAft>
                <a:spcPts val="0"/>
              </a:spcAft>
            </a:pPr>
            <a:r>
              <a:rPr sz="1100" b="0">
                <a:solidFill>
                  <a:srgbClr val="374151"/>
                </a:solidFill>
                <a:latin typeface="Calibri"/>
              </a:rPr>
              <a:t>SaaS. Confirm the service region with the account owner.</a:t>
            </a:r>
          </a:p>
        </p:txBody>
      </p:sp>
      <p:sp>
        <p:nvSpPr>
          <p:cNvPr id="24" name="Rounded Rectangle 23"/>
          <p:cNvSpPr/>
          <p:nvPr/>
        </p:nvSpPr>
        <p:spPr>
          <a:xfrm>
            <a:off x="3840480" y="1664208"/>
            <a:ext cx="1417320" cy="640080"/>
          </a:xfrm>
          <a:prstGeom prst="roundRect">
            <a:avLst>
              <a:gd name="adj" fmla="val 8000"/>
            </a:avLst>
          </a:prstGeom>
          <a:solidFill>
            <a:srgbClr val="0F2C4C"/>
          </a:solidFill>
          <a:ln w="12700">
            <a:solidFill>
              <a:srgbClr val="0F2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95344" y="1700784"/>
            <a:ext cx="1316736" cy="566928"/>
          </a:xfrm>
          <a:prstGeom prst="rect">
            <a:avLst/>
          </a:prstGeom>
          <a:noFill/>
        </p:spPr>
        <p:txBody>
          <a:bodyPr wrap="square" lIns="45720" rIns="36576" tIns="18288" bIns="9144"/>
          <a:lstStyle/>
          <a:p>
            <a:pPr algn="l">
              <a:spcBef>
                <a:spcPts val="0"/>
              </a:spcBef>
              <a:spcAft>
                <a:spcPts val="0"/>
              </a:spcAft>
            </a:pPr>
            <a:r>
              <a:rPr sz="1200" b="1">
                <a:solidFill>
                  <a:srgbClr val="FFFFFF"/>
                </a:solidFill>
                <a:latin typeface="Calibri"/>
              </a:rPr>
              <a:t>Incident</a:t>
            </a:r>
          </a:p>
          <a:p>
            <a:pPr algn="l">
              <a:spcBef>
                <a:spcPts val="100"/>
              </a:spcBef>
              <a:spcAft>
                <a:spcPts val="0"/>
              </a:spcAft>
            </a:pPr>
            <a:r>
              <a:rPr sz="1100" b="0">
                <a:solidFill>
                  <a:srgbClr val="FFFFFF"/>
                </a:solidFill>
                <a:latin typeface="Calibri"/>
              </a:rPr>
              <a:t>Escalation policy</a:t>
            </a:r>
          </a:p>
        </p:txBody>
      </p:sp>
      <p:sp>
        <p:nvSpPr>
          <p:cNvPr id="26" name="Rounded Rectangle 25"/>
          <p:cNvSpPr/>
          <p:nvPr/>
        </p:nvSpPr>
        <p:spPr>
          <a:xfrm>
            <a:off x="5349240" y="1664208"/>
            <a:ext cx="1417320" cy="640080"/>
          </a:xfrm>
          <a:prstGeom prst="roundRect">
            <a:avLst>
              <a:gd name="adj" fmla="val 8000"/>
            </a:avLst>
          </a:prstGeom>
          <a:solidFill>
            <a:srgbClr val="0F2C4C"/>
          </a:solidFill>
          <a:ln w="12700">
            <a:solidFill>
              <a:srgbClr val="0F2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4104" y="1700784"/>
            <a:ext cx="1316736" cy="566928"/>
          </a:xfrm>
          <a:prstGeom prst="rect">
            <a:avLst/>
          </a:prstGeom>
          <a:noFill/>
        </p:spPr>
        <p:txBody>
          <a:bodyPr wrap="square" lIns="45720" rIns="36576" tIns="18288" bIns="9144"/>
          <a:lstStyle/>
          <a:p>
            <a:pPr algn="l">
              <a:spcBef>
                <a:spcPts val="0"/>
              </a:spcBef>
              <a:spcAft>
                <a:spcPts val="0"/>
              </a:spcAft>
            </a:pPr>
            <a:r>
              <a:rPr sz="1200" b="1">
                <a:solidFill>
                  <a:srgbClr val="FFFFFF"/>
                </a:solidFill>
                <a:latin typeface="Calibri"/>
              </a:rPr>
              <a:t>Call and SMS</a:t>
            </a:r>
          </a:p>
          <a:p>
            <a:pPr algn="l">
              <a:spcBef>
                <a:spcPts val="100"/>
              </a:spcBef>
              <a:spcAft>
                <a:spcPts val="0"/>
              </a:spcAft>
            </a:pPr>
            <a:r>
              <a:rPr sz="1100" b="0">
                <a:solidFill>
                  <a:srgbClr val="FFFFFF"/>
                </a:solidFill>
                <a:latin typeface="Calibri"/>
              </a:rPr>
              <a:t>To the on-call path</a:t>
            </a:r>
          </a:p>
        </p:txBody>
      </p:sp>
      <p:sp>
        <p:nvSpPr>
          <p:cNvPr id="28" name="Rounded Rectangle 27"/>
          <p:cNvSpPr/>
          <p:nvPr/>
        </p:nvSpPr>
        <p:spPr>
          <a:xfrm>
            <a:off x="6858000" y="1664208"/>
            <a:ext cx="1389888" cy="640080"/>
          </a:xfrm>
          <a:prstGeom prst="roundRect">
            <a:avLst>
              <a:gd name="adj" fmla="val 8000"/>
            </a:avLst>
          </a:prstGeom>
          <a:solidFill>
            <a:srgbClr val="FFFFFF"/>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4" y="1682496"/>
            <a:ext cx="1280160" cy="585216"/>
          </a:xfrm>
          <a:prstGeom prst="rect">
            <a:avLst/>
          </a:prstGeom>
          <a:noFill/>
        </p:spPr>
        <p:txBody>
          <a:bodyPr wrap="square" lIns="45720" rIns="36576" tIns="18288" bIns="9144"/>
          <a:lstStyle/>
          <a:p>
            <a:pPr algn="l">
              <a:spcBef>
                <a:spcPts val="0"/>
              </a:spcBef>
              <a:spcAft>
                <a:spcPts val="0"/>
              </a:spcAft>
            </a:pPr>
            <a:r>
              <a:rPr sz="1200" b="1">
                <a:solidFill>
                  <a:srgbClr val="0F2C4C"/>
                </a:solidFill>
                <a:latin typeface="Calibri"/>
              </a:rPr>
              <a:t>Sign-in</a:t>
            </a:r>
          </a:p>
          <a:p>
            <a:pPr algn="l">
              <a:spcBef>
                <a:spcPts val="0"/>
              </a:spcBef>
              <a:spcAft>
                <a:spcPts val="0"/>
              </a:spcAft>
            </a:pPr>
            <a:r>
              <a:rPr sz="1000" b="0">
                <a:solidFill>
                  <a:srgbClr val="374151"/>
                </a:solidFill>
                <a:latin typeface="Calibri"/>
              </a:rPr>
              <a:t>Entra ID, SAML,</a:t>
            </a:r>
          </a:p>
          <a:p>
            <a:pPr algn="l">
              <a:spcBef>
                <a:spcPts val="0"/>
              </a:spcBef>
              <a:spcAft>
                <a:spcPts val="0"/>
              </a:spcAft>
            </a:pPr>
            <a:r>
              <a:rPr sz="1000" b="0">
                <a:solidFill>
                  <a:srgbClr val="374151"/>
                </a:solidFill>
                <a:latin typeface="Calibri"/>
              </a:rPr>
              <a:t>MFA. IdP is outside.</a:t>
            </a:r>
          </a:p>
        </p:txBody>
      </p:sp>
      <p:sp>
        <p:nvSpPr>
          <p:cNvPr id="30" name="Rounded Rectangle 29"/>
          <p:cNvSpPr/>
          <p:nvPr/>
        </p:nvSpPr>
        <p:spPr>
          <a:xfrm>
            <a:off x="3840480" y="2450592"/>
            <a:ext cx="4407408" cy="1417320"/>
          </a:xfrm>
          <a:prstGeom prst="roundRect">
            <a:avLst>
              <a:gd name="adj" fmla="val 8000"/>
            </a:avLst>
          </a:prstGeom>
          <a:solidFill>
            <a:srgbClr val="FFF4E8"/>
          </a:solidFill>
          <a:ln w="25400">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0208" y="2487168"/>
            <a:ext cx="4160520" cy="365760"/>
          </a:xfrm>
          <a:prstGeom prst="rect">
            <a:avLst/>
          </a:prstGeom>
          <a:noFill/>
        </p:spPr>
        <p:txBody>
          <a:bodyPr wrap="square" lIns="45720" rIns="36576" tIns="18288" bIns="9144"/>
          <a:lstStyle/>
          <a:p>
            <a:pPr algn="l">
              <a:spcBef>
                <a:spcPts val="0"/>
              </a:spcBef>
              <a:spcAft>
                <a:spcPts val="0"/>
              </a:spcAft>
            </a:pPr>
            <a:r>
              <a:rPr sz="1400" b="1">
                <a:solidFill>
                  <a:srgbClr val="C4560A"/>
                </a:solidFill>
                <a:latin typeface="Calibri"/>
              </a:rPr>
              <a:t>PagerDuty AI Assistant</a:t>
            </a:r>
          </a:p>
          <a:p>
            <a:pPr algn="l">
              <a:spcBef>
                <a:spcPts val="0"/>
              </a:spcBef>
              <a:spcAft>
                <a:spcPts val="0"/>
              </a:spcAft>
            </a:pPr>
            <a:r>
              <a:rPr sz="1100" b="0">
                <a:solidFill>
                  <a:srgbClr val="374151"/>
                </a:solidFill>
                <a:latin typeface="Calibri"/>
              </a:rPr>
              <a:t>New box. Writes text back to Teams.</a:t>
            </a:r>
          </a:p>
        </p:txBody>
      </p:sp>
      <p:sp>
        <p:nvSpPr>
          <p:cNvPr id="32" name="Rounded Rectangle 31"/>
          <p:cNvSpPr/>
          <p:nvPr/>
        </p:nvSpPr>
        <p:spPr>
          <a:xfrm>
            <a:off x="3950208" y="3246120"/>
            <a:ext cx="1005840" cy="457200"/>
          </a:xfrm>
          <a:prstGeom prst="roundRect">
            <a:avLst>
              <a:gd name="adj" fmla="val 8000"/>
            </a:avLst>
          </a:prstGeom>
          <a:solidFill>
            <a:srgbClr val="FFFFFF"/>
          </a:solidFill>
          <a:ln w="12700">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68496" y="3310128"/>
            <a:ext cx="969264" cy="329184"/>
          </a:xfrm>
          <a:prstGeom prst="rect">
            <a:avLst/>
          </a:prstGeom>
          <a:noFill/>
        </p:spPr>
        <p:txBody>
          <a:bodyPr wrap="square" lIns="45720" rIns="36576" tIns="18288" bIns="9144"/>
          <a:lstStyle/>
          <a:p>
            <a:pPr algn="ctr">
              <a:spcBef>
                <a:spcPts val="0"/>
              </a:spcBef>
              <a:spcAft>
                <a:spcPts val="0"/>
              </a:spcAft>
            </a:pPr>
            <a:r>
              <a:rPr sz="1100" b="1">
                <a:solidFill>
                  <a:srgbClr val="0F2C4C"/>
                </a:solidFill>
                <a:latin typeface="Calibri"/>
              </a:rPr>
              <a:t>summary</a:t>
            </a:r>
          </a:p>
        </p:txBody>
      </p:sp>
      <p:sp>
        <p:nvSpPr>
          <p:cNvPr id="34" name="Rounded Rectangle 33"/>
          <p:cNvSpPr/>
          <p:nvPr/>
        </p:nvSpPr>
        <p:spPr>
          <a:xfrm>
            <a:off x="5029200" y="3246120"/>
            <a:ext cx="1005840" cy="457200"/>
          </a:xfrm>
          <a:prstGeom prst="roundRect">
            <a:avLst>
              <a:gd name="adj" fmla="val 8000"/>
            </a:avLst>
          </a:prstGeom>
          <a:solidFill>
            <a:srgbClr val="FFFFFF"/>
          </a:solidFill>
          <a:ln w="12700">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47488" y="3310128"/>
            <a:ext cx="969264" cy="329184"/>
          </a:xfrm>
          <a:prstGeom prst="rect">
            <a:avLst/>
          </a:prstGeom>
          <a:noFill/>
        </p:spPr>
        <p:txBody>
          <a:bodyPr wrap="square" lIns="45720" rIns="36576" tIns="18288" bIns="9144"/>
          <a:lstStyle/>
          <a:p>
            <a:pPr algn="ctr">
              <a:spcBef>
                <a:spcPts val="0"/>
              </a:spcBef>
              <a:spcAft>
                <a:spcPts val="0"/>
              </a:spcAft>
            </a:pPr>
            <a:r>
              <a:rPr sz="1100" b="1">
                <a:solidFill>
                  <a:srgbClr val="0F2C4C"/>
                </a:solidFill>
                <a:latin typeface="Calibri"/>
              </a:rPr>
              <a:t>causes</a:t>
            </a:r>
          </a:p>
        </p:txBody>
      </p:sp>
      <p:sp>
        <p:nvSpPr>
          <p:cNvPr id="36" name="Rounded Rectangle 35"/>
          <p:cNvSpPr/>
          <p:nvPr/>
        </p:nvSpPr>
        <p:spPr>
          <a:xfrm>
            <a:off x="6108192" y="3246120"/>
            <a:ext cx="1005840" cy="457200"/>
          </a:xfrm>
          <a:prstGeom prst="roundRect">
            <a:avLst>
              <a:gd name="adj" fmla="val 8000"/>
            </a:avLst>
          </a:prstGeom>
          <a:solidFill>
            <a:srgbClr val="FFFFFF"/>
          </a:solidFill>
          <a:ln w="12700">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79" y="3310128"/>
            <a:ext cx="969264" cy="329184"/>
          </a:xfrm>
          <a:prstGeom prst="rect">
            <a:avLst/>
          </a:prstGeom>
          <a:noFill/>
        </p:spPr>
        <p:txBody>
          <a:bodyPr wrap="square" lIns="45720" rIns="36576" tIns="18288" bIns="9144"/>
          <a:lstStyle/>
          <a:p>
            <a:pPr algn="ctr">
              <a:spcBef>
                <a:spcPts val="0"/>
              </a:spcBef>
              <a:spcAft>
                <a:spcPts val="0"/>
              </a:spcAft>
            </a:pPr>
            <a:r>
              <a:rPr sz="1100" b="1">
                <a:solidFill>
                  <a:srgbClr val="0F2C4C"/>
                </a:solidFill>
                <a:latin typeface="Calibri"/>
              </a:rPr>
              <a:t>status</a:t>
            </a:r>
          </a:p>
        </p:txBody>
      </p:sp>
      <p:sp>
        <p:nvSpPr>
          <p:cNvPr id="38" name="Rounded Rectangle 37"/>
          <p:cNvSpPr/>
          <p:nvPr/>
        </p:nvSpPr>
        <p:spPr>
          <a:xfrm>
            <a:off x="7040880" y="3246120"/>
            <a:ext cx="1005840" cy="457200"/>
          </a:xfrm>
          <a:prstGeom prst="roundRect">
            <a:avLst>
              <a:gd name="adj" fmla="val 8000"/>
            </a:avLst>
          </a:prstGeom>
          <a:solidFill>
            <a:srgbClr val="FFFFFF"/>
          </a:solidFill>
          <a:ln w="12700">
            <a:solidFill>
              <a:srgbClr val="C456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59168" y="3310128"/>
            <a:ext cx="969264" cy="329184"/>
          </a:xfrm>
          <a:prstGeom prst="rect">
            <a:avLst/>
          </a:prstGeom>
          <a:noFill/>
        </p:spPr>
        <p:txBody>
          <a:bodyPr wrap="square" lIns="45720" rIns="36576" tIns="18288" bIns="9144"/>
          <a:lstStyle/>
          <a:p>
            <a:pPr algn="ctr">
              <a:spcBef>
                <a:spcPts val="0"/>
              </a:spcBef>
              <a:spcAft>
                <a:spcPts val="0"/>
              </a:spcAft>
            </a:pPr>
            <a:r>
              <a:rPr sz="1100" b="1">
                <a:solidFill>
                  <a:srgbClr val="0F2C4C"/>
                </a:solidFill>
                <a:latin typeface="Calibri"/>
              </a:rPr>
              <a:t>Scribe</a:t>
            </a:r>
          </a:p>
        </p:txBody>
      </p:sp>
      <p:sp>
        <p:nvSpPr>
          <p:cNvPr id="40" name="Rounded Rectangle 39"/>
          <p:cNvSpPr/>
          <p:nvPr/>
        </p:nvSpPr>
        <p:spPr>
          <a:xfrm>
            <a:off x="3840480" y="4005072"/>
            <a:ext cx="4407408" cy="1051560"/>
          </a:xfrm>
          <a:prstGeom prst="roundRect">
            <a:avLst>
              <a:gd name="adj" fmla="val 8000"/>
            </a:avLst>
          </a:prstGeom>
          <a:solidFill>
            <a:srgbClr val="FFF6CC"/>
          </a:solidFill>
          <a:ln w="12700">
            <a:solidFill>
              <a:srgbClr val="C49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31920" y="4041648"/>
            <a:ext cx="4224528" cy="960120"/>
          </a:xfrm>
          <a:prstGeom prst="rect">
            <a:avLst/>
          </a:prstGeom>
          <a:noFill/>
        </p:spPr>
        <p:txBody>
          <a:bodyPr wrap="square" lIns="45720" rIns="36576" tIns="18288" bIns="9144"/>
          <a:lstStyle/>
          <a:p>
            <a:pPr algn="l">
              <a:spcBef>
                <a:spcPts val="0"/>
              </a:spcBef>
              <a:spcAft>
                <a:spcPts val="0"/>
              </a:spcAft>
            </a:pPr>
            <a:r>
              <a:rPr sz="1200" b="1">
                <a:solidFill>
                  <a:srgbClr val="854D0E"/>
                </a:solidFill>
                <a:latin typeface="Calibri"/>
              </a:rPr>
              <a:t>Cloud note</a:t>
            </a:r>
          </a:p>
          <a:p>
            <a:pPr algn="l">
              <a:spcBef>
                <a:spcPts val="200"/>
              </a:spcBef>
              <a:spcAft>
                <a:spcPts val="0"/>
              </a:spcAft>
            </a:pPr>
            <a:r>
              <a:rPr sz="1100" b="0">
                <a:solidFill>
                  <a:srgbClr val="374151"/>
                </a:solidFill>
                <a:latin typeface="Calibri"/>
              </a:rPr>
              <a:t>Transit is TLS 1.2 or higher. At rest is AES-256.</a:t>
            </a:r>
          </a:p>
          <a:p>
            <a:pPr algn="l">
              <a:spcBef>
                <a:spcPts val="100"/>
              </a:spcBef>
              <a:spcAft>
                <a:spcPts val="0"/>
              </a:spcAft>
            </a:pPr>
            <a:r>
              <a:rPr sz="1100" b="0">
                <a:solidFill>
                  <a:srgbClr val="374151"/>
                </a:solidFill>
                <a:latin typeface="Calibri"/>
              </a:rPr>
              <a:t>PagerDuty states it does not train on customer data.</a:t>
            </a:r>
          </a:p>
          <a:p>
            <a:pPr algn="l">
              <a:spcBef>
                <a:spcPts val="100"/>
              </a:spcBef>
              <a:spcAft>
                <a:spcPts val="0"/>
              </a:spcAft>
            </a:pPr>
            <a:r>
              <a:rPr sz="1100" b="0">
                <a:solidFill>
                  <a:srgbClr val="374151"/>
                </a:solidFill>
                <a:latin typeface="Calibri"/>
              </a:rPr>
              <a:t>Shift schedule data is not sent.</a:t>
            </a:r>
          </a:p>
        </p:txBody>
      </p:sp>
      <p:sp>
        <p:nvSpPr>
          <p:cNvPr id="42" name="Rounded Rectangle 41"/>
          <p:cNvSpPr/>
          <p:nvPr/>
        </p:nvSpPr>
        <p:spPr>
          <a:xfrm>
            <a:off x="9144000" y="1152144"/>
            <a:ext cx="2880360" cy="4069080"/>
          </a:xfrm>
          <a:prstGeom prst="roundRect">
            <a:avLst>
              <a:gd name="adj" fmla="val 4000"/>
            </a:avLst>
          </a:prstGeom>
          <a:solidFill>
            <a:srgbClr val="E7F6F2"/>
          </a:solidFill>
          <a:ln w="17145">
            <a:solidFill>
              <a:srgbClr val="0E6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35440" y="1188720"/>
            <a:ext cx="2697480" cy="237744"/>
          </a:xfrm>
          <a:prstGeom prst="rect">
            <a:avLst/>
          </a:prstGeom>
          <a:noFill/>
        </p:spPr>
        <p:txBody>
          <a:bodyPr wrap="square" lIns="45720" rIns="36576" tIns="18288" bIns="9144"/>
          <a:lstStyle/>
          <a:p>
            <a:pPr algn="l">
              <a:spcBef>
                <a:spcPts val="0"/>
              </a:spcBef>
              <a:spcAft>
                <a:spcPts val="0"/>
              </a:spcAft>
            </a:pPr>
            <a:r>
              <a:rPr sz="1300" b="1">
                <a:solidFill>
                  <a:srgbClr val="0E6B5C"/>
                </a:solidFill>
                <a:latin typeface="Calibri"/>
              </a:rPr>
              <a:t>3  War room</a:t>
            </a:r>
          </a:p>
        </p:txBody>
      </p:sp>
      <p:sp>
        <p:nvSpPr>
          <p:cNvPr id="44" name="Rounded Rectangle 43"/>
          <p:cNvSpPr/>
          <p:nvPr/>
        </p:nvSpPr>
        <p:spPr>
          <a:xfrm>
            <a:off x="9272016" y="1499616"/>
            <a:ext cx="2633472" cy="640080"/>
          </a:xfrm>
          <a:prstGeom prst="roundRect">
            <a:avLst>
              <a:gd name="adj" fmla="val 8000"/>
            </a:avLst>
          </a:prstGeom>
          <a:solidFill>
            <a:srgbClr val="FFFFFF"/>
          </a:solidFill>
          <a:ln w="12700">
            <a:solidFill>
              <a:srgbClr val="0E6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45168" y="1536192"/>
            <a:ext cx="2487168" cy="566928"/>
          </a:xfrm>
          <a:prstGeom prst="rect">
            <a:avLst/>
          </a:prstGeom>
          <a:noFill/>
        </p:spPr>
        <p:txBody>
          <a:bodyPr wrap="square" lIns="45720" rIns="36576" tIns="18288" bIns="9144"/>
          <a:lstStyle/>
          <a:p>
            <a:pPr algn="l">
              <a:spcBef>
                <a:spcPts val="0"/>
              </a:spcBef>
              <a:spcAft>
                <a:spcPts val="0"/>
              </a:spcAft>
            </a:pPr>
            <a:r>
              <a:rPr sz="1200" b="1">
                <a:solidFill>
                  <a:srgbClr val="0E6B5C"/>
                </a:solidFill>
                <a:latin typeface="Calibri"/>
              </a:rPr>
              <a:t>Microsoft Teams</a:t>
            </a:r>
          </a:p>
          <a:p>
            <a:pPr algn="l">
              <a:spcBef>
                <a:spcPts val="100"/>
              </a:spcBef>
              <a:spcAft>
                <a:spcPts val="0"/>
              </a:spcAft>
            </a:pPr>
            <a:r>
              <a:rPr sz="1200" b="1">
                <a:solidFill>
                  <a:srgbClr val="0F2C4C"/>
                </a:solidFill>
                <a:latin typeface="Calibri"/>
              </a:rPr>
              <a:t>monitoring-2026-prod</a:t>
            </a:r>
          </a:p>
        </p:txBody>
      </p:sp>
      <p:sp>
        <p:nvSpPr>
          <p:cNvPr id="46" name="Rounded Rectangle 45"/>
          <p:cNvSpPr/>
          <p:nvPr/>
        </p:nvSpPr>
        <p:spPr>
          <a:xfrm>
            <a:off x="9272016" y="2231136"/>
            <a:ext cx="2633472" cy="713232"/>
          </a:xfrm>
          <a:prstGeom prst="roundRect">
            <a:avLst>
              <a:gd name="adj" fmla="val 8000"/>
            </a:avLst>
          </a:prstGeom>
          <a:solidFill>
            <a:srgbClr val="FFFFFF"/>
          </a:solidFill>
          <a:ln w="14604">
            <a:solidFill>
              <a:srgbClr val="0E6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345168" y="2304288"/>
            <a:ext cx="128016" cy="128016"/>
          </a:xfrm>
          <a:prstGeom prst="ellipse">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509760" y="2267712"/>
            <a:ext cx="2304288" cy="640080"/>
          </a:xfrm>
          <a:prstGeom prst="rect">
            <a:avLst/>
          </a:prstGeom>
          <a:noFill/>
        </p:spPr>
        <p:txBody>
          <a:bodyPr wrap="square" lIns="45720" rIns="36576" tIns="18288" bIns="9144"/>
          <a:lstStyle/>
          <a:p>
            <a:pPr algn="l">
              <a:spcBef>
                <a:spcPts val="0"/>
              </a:spcBef>
              <a:spcAft>
                <a:spcPts val="0"/>
              </a:spcAft>
            </a:pPr>
            <a:r>
              <a:rPr sz="1400" b="1">
                <a:solidFill>
                  <a:srgbClr val="0E6B5C"/>
                </a:solidFill>
                <a:latin typeface="Calibri"/>
              </a:rPr>
              <a:t>Primary</a:t>
            </a:r>
          </a:p>
          <a:p>
            <a:pPr algn="l">
              <a:spcBef>
                <a:spcPts val="0"/>
              </a:spcBef>
              <a:spcAft>
                <a:spcPts val="0"/>
              </a:spcAft>
            </a:pPr>
            <a:r>
              <a:rPr sz="1100" b="0">
                <a:solidFill>
                  <a:srgbClr val="374151"/>
                </a:solidFill>
                <a:latin typeface="Calibri"/>
              </a:rPr>
              <a:t>On-call employee. Asks, then checks the reply.</a:t>
            </a:r>
          </a:p>
        </p:txBody>
      </p:sp>
      <p:sp>
        <p:nvSpPr>
          <p:cNvPr id="49" name="Rounded Rectangle 48"/>
          <p:cNvSpPr/>
          <p:nvPr/>
        </p:nvSpPr>
        <p:spPr>
          <a:xfrm>
            <a:off x="9272016" y="3035808"/>
            <a:ext cx="2633472" cy="566928"/>
          </a:xfrm>
          <a:prstGeom prst="roundRect">
            <a:avLst>
              <a:gd name="adj" fmla="val 8000"/>
            </a:avLst>
          </a:prstGeom>
          <a:solidFill>
            <a:srgbClr val="FFFFFF"/>
          </a:solidFill>
          <a:ln w="12700">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345168" y="3072384"/>
            <a:ext cx="2487168" cy="493776"/>
          </a:xfrm>
          <a:prstGeom prst="rect">
            <a:avLst/>
          </a:prstGeom>
          <a:noFill/>
        </p:spPr>
        <p:txBody>
          <a:bodyPr wrap="square" lIns="45720" rIns="36576" tIns="18288" bIns="9144"/>
          <a:lstStyle/>
          <a:p>
            <a:pPr algn="l">
              <a:spcBef>
                <a:spcPts val="0"/>
              </a:spcBef>
              <a:spcAft>
                <a:spcPts val="0"/>
              </a:spcAft>
            </a:pPr>
            <a:r>
              <a:rPr sz="1200" b="1">
                <a:solidFill>
                  <a:srgbClr val="1E7A46"/>
                </a:solidFill>
                <a:latin typeface="Calibri"/>
              </a:rPr>
              <a:t>BAM-India 24x7</a:t>
            </a:r>
          </a:p>
          <a:p>
            <a:pPr algn="l">
              <a:spcBef>
                <a:spcPts val="0"/>
              </a:spcBef>
              <a:spcAft>
                <a:spcPts val="0"/>
              </a:spcAft>
            </a:pPr>
            <a:r>
              <a:rPr sz="1000" b="0">
                <a:solidFill>
                  <a:srgbClr val="374151"/>
                </a:solidFill>
                <a:latin typeface="Calibri"/>
              </a:rPr>
              <a:t>Receives call and SMS, then escalates</a:t>
            </a:r>
          </a:p>
        </p:txBody>
      </p:sp>
      <p:sp>
        <p:nvSpPr>
          <p:cNvPr id="51" name="Rounded Rectangle 50"/>
          <p:cNvSpPr/>
          <p:nvPr/>
        </p:nvSpPr>
        <p:spPr>
          <a:xfrm>
            <a:off x="9272016" y="3694176"/>
            <a:ext cx="2633472" cy="1353312"/>
          </a:xfrm>
          <a:prstGeom prst="roundRect">
            <a:avLst>
              <a:gd name="adj" fmla="val 8000"/>
            </a:avLst>
          </a:prstGeom>
          <a:solidFill>
            <a:srgbClr val="FFFFFF"/>
          </a:solidFill>
          <a:ln w="12700">
            <a:solidFill>
              <a:srgbClr val="0E6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45168" y="3730752"/>
            <a:ext cx="2487168" cy="1261872"/>
          </a:xfrm>
          <a:prstGeom prst="rect">
            <a:avLst/>
          </a:prstGeom>
          <a:noFill/>
        </p:spPr>
        <p:txBody>
          <a:bodyPr wrap="square" lIns="45720" rIns="36576" tIns="18288" bIns="9144"/>
          <a:lstStyle/>
          <a:p>
            <a:pPr algn="l">
              <a:spcBef>
                <a:spcPts val="0"/>
              </a:spcBef>
              <a:spcAft>
                <a:spcPts val="0"/>
              </a:spcAft>
            </a:pPr>
            <a:r>
              <a:rPr sz="1200" b="1">
                <a:solidFill>
                  <a:srgbClr val="0E6B5C"/>
                </a:solidFill>
                <a:latin typeface="Calibri"/>
              </a:rPr>
              <a:t>In the channel</a:t>
            </a:r>
          </a:p>
          <a:p>
            <a:pPr algn="l">
              <a:spcBef>
                <a:spcPts val="200"/>
              </a:spcBef>
              <a:spcAft>
                <a:spcPts val="0"/>
              </a:spcAft>
            </a:pPr>
            <a:r>
              <a:rPr sz="1100" b="0">
                <a:solidFill>
                  <a:srgbClr val="374151"/>
                </a:solidFill>
                <a:latin typeface="Calibri"/>
              </a:rPr>
              <a:t>Technology SREs</a:t>
            </a:r>
          </a:p>
          <a:p>
            <a:pPr algn="l">
              <a:spcBef>
                <a:spcPts val="0"/>
              </a:spcBef>
              <a:spcAft>
                <a:spcPts val="0"/>
              </a:spcAft>
            </a:pPr>
            <a:r>
              <a:rPr sz="1100" b="0">
                <a:solidFill>
                  <a:srgbClr val="374151"/>
                </a:solidFill>
                <a:latin typeface="Calibri"/>
              </a:rPr>
              <a:t>Application Support</a:t>
            </a:r>
          </a:p>
          <a:p>
            <a:pPr algn="l">
              <a:spcBef>
                <a:spcPts val="200"/>
              </a:spcBef>
              <a:spcAft>
                <a:spcPts val="0"/>
              </a:spcAft>
            </a:pPr>
            <a:r>
              <a:rPr sz="1100" b="0">
                <a:solidFill>
                  <a:srgbClr val="374151"/>
                </a:solidFill>
                <a:latin typeface="Calibri"/>
              </a:rPr>
              <a:t>Late joiner reads the reply,</a:t>
            </a:r>
          </a:p>
          <a:p>
            <a:pPr algn="l">
              <a:spcBef>
                <a:spcPts val="0"/>
              </a:spcBef>
              <a:spcAft>
                <a:spcPts val="0"/>
              </a:spcAft>
            </a:pPr>
            <a:r>
              <a:rPr sz="1100" b="0">
                <a:solidFill>
                  <a:srgbClr val="374151"/>
                </a:solidFill>
                <a:latin typeface="Calibri"/>
              </a:rPr>
              <a:t>then opens DEM, Nagios,</a:t>
            </a:r>
          </a:p>
          <a:p>
            <a:pPr algn="l">
              <a:spcBef>
                <a:spcPts val="0"/>
              </a:spcBef>
              <a:spcAft>
                <a:spcPts val="0"/>
              </a:spcAft>
            </a:pPr>
            <a:r>
              <a:rPr sz="1100" b="0">
                <a:solidFill>
                  <a:srgbClr val="374151"/>
                </a:solidFill>
                <a:latin typeface="Calibri"/>
              </a:rPr>
              <a:t>SCOM, or the AWS tool.</a:t>
            </a:r>
          </a:p>
        </p:txBody>
      </p:sp>
      <p:cxnSp>
        <p:nvCxnSpPr>
          <p:cNvPr id="53" name="Connector 52"/>
          <p:cNvCxnSpPr/>
          <p:nvPr/>
        </p:nvCxnSpPr>
        <p:spPr>
          <a:xfrm flipV="1">
            <a:off x="3044952" y="1965960"/>
            <a:ext cx="658368" cy="320040"/>
          </a:xfrm>
          <a:prstGeom prst="line">
            <a:avLst/>
          </a:prstGeom>
          <a:ln w="19050">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999232" y="1965960"/>
            <a:ext cx="731520" cy="365760"/>
          </a:xfrm>
          <a:prstGeom prst="rect">
            <a:avLst/>
          </a:prstGeom>
          <a:noFill/>
        </p:spPr>
        <p:txBody>
          <a:bodyPr wrap="square" lIns="45720" rIns="36576" tIns="18288" bIns="9144"/>
          <a:lstStyle/>
          <a:p>
            <a:pPr algn="l">
              <a:spcBef>
                <a:spcPts val="0"/>
              </a:spcBef>
              <a:spcAft>
                <a:spcPts val="0"/>
              </a:spcAft>
            </a:pPr>
            <a:r>
              <a:rPr sz="1000" b="1">
                <a:solidFill>
                  <a:srgbClr val="0F2C4C"/>
                </a:solidFill>
                <a:latin typeface="Calibri"/>
              </a:rPr>
              <a:t>HTTPS</a:t>
            </a:r>
          </a:p>
          <a:p>
            <a:pPr algn="l">
              <a:spcBef>
                <a:spcPts val="0"/>
              </a:spcBef>
              <a:spcAft>
                <a:spcPts val="0"/>
              </a:spcAft>
            </a:pPr>
            <a:r>
              <a:rPr sz="1000" b="1">
                <a:solidFill>
                  <a:srgbClr val="0F2C4C"/>
                </a:solidFill>
                <a:latin typeface="Calibri"/>
              </a:rPr>
              <a:t>event</a:t>
            </a:r>
          </a:p>
        </p:txBody>
      </p:sp>
      <p:cxnSp>
        <p:nvCxnSpPr>
          <p:cNvPr id="55" name="Connector 54"/>
          <p:cNvCxnSpPr/>
          <p:nvPr/>
        </p:nvCxnSpPr>
        <p:spPr>
          <a:xfrm flipV="1">
            <a:off x="8412480" y="1783080"/>
            <a:ext cx="731520" cy="182880"/>
          </a:xfrm>
          <a:prstGeom prst="line">
            <a:avLst/>
          </a:prstGeom>
          <a:ln w="19050">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430768" y="1554480"/>
            <a:ext cx="685800" cy="329184"/>
          </a:xfrm>
          <a:prstGeom prst="rect">
            <a:avLst/>
          </a:prstGeom>
          <a:noFill/>
        </p:spPr>
        <p:txBody>
          <a:bodyPr wrap="square" lIns="45720" rIns="36576" tIns="18288" bIns="9144"/>
          <a:lstStyle/>
          <a:p>
            <a:pPr algn="l">
              <a:spcBef>
                <a:spcPts val="0"/>
              </a:spcBef>
              <a:spcAft>
                <a:spcPts val="0"/>
              </a:spcAft>
            </a:pPr>
            <a:r>
              <a:rPr sz="1000" b="1">
                <a:solidFill>
                  <a:srgbClr val="1E7A46"/>
                </a:solidFill>
                <a:latin typeface="Calibri"/>
              </a:rPr>
              <a:t>notify</a:t>
            </a:r>
          </a:p>
        </p:txBody>
      </p:sp>
      <p:cxnSp>
        <p:nvCxnSpPr>
          <p:cNvPr id="57" name="Connector 56"/>
          <p:cNvCxnSpPr/>
          <p:nvPr/>
        </p:nvCxnSpPr>
        <p:spPr>
          <a:xfrm>
            <a:off x="8412480" y="3200400"/>
            <a:ext cx="731520" cy="91440"/>
          </a:xfrm>
          <a:prstGeom prst="line">
            <a:avLst/>
          </a:prstGeom>
          <a:ln w="19050">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394192" y="2944368"/>
            <a:ext cx="731520" cy="256032"/>
          </a:xfrm>
          <a:prstGeom prst="rect">
            <a:avLst/>
          </a:prstGeom>
          <a:noFill/>
        </p:spPr>
        <p:txBody>
          <a:bodyPr wrap="square" lIns="45720" rIns="36576" tIns="18288" bIns="9144"/>
          <a:lstStyle/>
          <a:p>
            <a:pPr algn="l">
              <a:spcBef>
                <a:spcPts val="0"/>
              </a:spcBef>
              <a:spcAft>
                <a:spcPts val="0"/>
              </a:spcAft>
            </a:pPr>
            <a:r>
              <a:rPr sz="1000" b="1">
                <a:solidFill>
                  <a:srgbClr val="1E7A46"/>
                </a:solidFill>
                <a:latin typeface="Calibri"/>
              </a:rPr>
              <a:t>call</a:t>
            </a:r>
          </a:p>
        </p:txBody>
      </p:sp>
      <p:cxnSp>
        <p:nvCxnSpPr>
          <p:cNvPr id="59" name="Connector 58"/>
          <p:cNvCxnSpPr/>
          <p:nvPr/>
        </p:nvCxnSpPr>
        <p:spPr>
          <a:xfrm flipH="1">
            <a:off x="8412480" y="2560320"/>
            <a:ext cx="731520" cy="457200"/>
          </a:xfrm>
          <a:prstGeom prst="line">
            <a:avLst/>
          </a:prstGeom>
          <a:ln w="19050">
            <a:solidFill>
              <a:srgbClr val="0F2C4C"/>
            </a:solidFill>
            <a:headEnd type="triangle" w="med" h="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412480" y="2331720"/>
            <a:ext cx="685800" cy="256032"/>
          </a:xfrm>
          <a:prstGeom prst="rect">
            <a:avLst/>
          </a:prstGeom>
          <a:noFill/>
        </p:spPr>
        <p:txBody>
          <a:bodyPr wrap="square" lIns="45720" rIns="36576" tIns="18288" bIns="9144"/>
          <a:lstStyle/>
          <a:p>
            <a:pPr algn="l">
              <a:spcBef>
                <a:spcPts val="0"/>
              </a:spcBef>
              <a:spcAft>
                <a:spcPts val="0"/>
              </a:spcAft>
            </a:pPr>
            <a:r>
              <a:rPr sz="1000" b="1">
                <a:solidFill>
                  <a:srgbClr val="C4560A"/>
                </a:solidFill>
                <a:latin typeface="Calibri"/>
              </a:rPr>
              <a:t>prompt</a:t>
            </a:r>
          </a:p>
        </p:txBody>
      </p:sp>
      <p:sp>
        <p:nvSpPr>
          <p:cNvPr id="61" name="Rounded Rectangle 60"/>
          <p:cNvSpPr/>
          <p:nvPr/>
        </p:nvSpPr>
        <p:spPr>
          <a:xfrm>
            <a:off x="164592" y="5340096"/>
            <a:ext cx="3840480" cy="960120"/>
          </a:xfrm>
          <a:prstGeom prst="roundRect">
            <a:avLst>
              <a:gd name="adj" fmla="val 8000"/>
            </a:avLst>
          </a:prstGeom>
          <a:solidFill>
            <a:srgbClr val="F4F6F8"/>
          </a:solidFill>
          <a:ln w="13970">
            <a:solidFill>
              <a:srgbClr val="3741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56032" y="5394960"/>
            <a:ext cx="3657600" cy="841248"/>
          </a:xfrm>
          <a:prstGeom prst="rect">
            <a:avLst/>
          </a:prstGeom>
          <a:noFill/>
        </p:spPr>
        <p:txBody>
          <a:bodyPr wrap="square" lIns="45720" rIns="36576" tIns="18288" bIns="9144"/>
          <a:lstStyle/>
          <a:p>
            <a:pPr algn="l">
              <a:spcBef>
                <a:spcPts val="0"/>
              </a:spcBef>
              <a:spcAft>
                <a:spcPts val="0"/>
              </a:spcAft>
            </a:pPr>
            <a:r>
              <a:rPr sz="1300" b="1">
                <a:solidFill>
                  <a:srgbClr val="374151"/>
                </a:solidFill>
                <a:latin typeface="Calibri"/>
              </a:rPr>
              <a:t>ServiceNow / Silva</a:t>
            </a:r>
          </a:p>
          <a:p>
            <a:pPr algn="l">
              <a:spcBef>
                <a:spcPts val="200"/>
              </a:spcBef>
              <a:spcAft>
                <a:spcPts val="0"/>
              </a:spcAft>
            </a:pPr>
            <a:r>
              <a:rPr sz="1200" b="0">
                <a:solidFill>
                  <a:srgbClr val="374151"/>
                </a:solidFill>
                <a:latin typeface="Calibri"/>
              </a:rPr>
              <a:t>Correlation stays here.</a:t>
            </a:r>
          </a:p>
          <a:p>
            <a:pPr algn="l">
              <a:spcBef>
                <a:spcPts val="0"/>
              </a:spcBef>
              <a:spcAft>
                <a:spcPts val="0"/>
              </a:spcAft>
            </a:pPr>
            <a:r>
              <a:rPr sz="1200" b="0">
                <a:solidFill>
                  <a:srgbClr val="374151"/>
                </a:solidFill>
                <a:latin typeface="Calibri"/>
              </a:rPr>
              <a:t>Primary files it after the fact-check.</a:t>
            </a:r>
          </a:p>
        </p:txBody>
      </p:sp>
      <p:sp>
        <p:nvSpPr>
          <p:cNvPr id="63" name="Rounded Rectangle 62"/>
          <p:cNvSpPr/>
          <p:nvPr/>
        </p:nvSpPr>
        <p:spPr>
          <a:xfrm>
            <a:off x="4133087" y="5340096"/>
            <a:ext cx="3840480" cy="960120"/>
          </a:xfrm>
          <a:prstGeom prst="roundRect">
            <a:avLst>
              <a:gd name="adj" fmla="val 8000"/>
            </a:avLst>
          </a:prstGeom>
          <a:solidFill>
            <a:srgbClr val="FFFFFF"/>
          </a:solidFill>
          <a:ln w="1397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24528" y="5394960"/>
            <a:ext cx="3657600" cy="841248"/>
          </a:xfrm>
          <a:prstGeom prst="rect">
            <a:avLst/>
          </a:prstGeom>
          <a:noFill/>
        </p:spPr>
        <p:txBody>
          <a:bodyPr wrap="square" lIns="45720" rIns="36576" tIns="18288" bIns="9144"/>
          <a:lstStyle/>
          <a:p>
            <a:pPr algn="l">
              <a:spcBef>
                <a:spcPts val="0"/>
              </a:spcBef>
              <a:spcAft>
                <a:spcPts val="0"/>
              </a:spcAft>
            </a:pPr>
            <a:r>
              <a:rPr sz="1300" b="1">
                <a:solidFill>
                  <a:srgbClr val="0F2C4C"/>
                </a:solidFill>
                <a:latin typeface="Calibri"/>
              </a:rPr>
              <a:t>Final PIR</a:t>
            </a:r>
          </a:p>
          <a:p>
            <a:pPr algn="l">
              <a:spcBef>
                <a:spcPts val="200"/>
              </a:spcBef>
              <a:spcAft>
                <a:spcPts val="0"/>
              </a:spcAft>
            </a:pPr>
            <a:r>
              <a:rPr sz="1200" b="0">
                <a:solidFill>
                  <a:srgbClr val="374151"/>
                </a:solidFill>
                <a:latin typeface="Calibri"/>
              </a:rPr>
              <a:t>Primary replaces the root-cause draft</a:t>
            </a:r>
          </a:p>
          <a:p>
            <a:pPr algn="l">
              <a:spcBef>
                <a:spcPts val="0"/>
              </a:spcBef>
              <a:spcAft>
                <a:spcPts val="0"/>
              </a:spcAft>
            </a:pPr>
            <a:r>
              <a:rPr sz="1200" b="0">
                <a:solidFill>
                  <a:srgbClr val="374151"/>
                </a:solidFill>
                <a:latin typeface="Calibri"/>
              </a:rPr>
              <a:t>with confirmed evidence, then publishes.</a:t>
            </a:r>
          </a:p>
        </p:txBody>
      </p:sp>
      <p:sp>
        <p:nvSpPr>
          <p:cNvPr id="65" name="Rounded Rectangle 64"/>
          <p:cNvSpPr/>
          <p:nvPr/>
        </p:nvSpPr>
        <p:spPr>
          <a:xfrm>
            <a:off x="8101583" y="5340096"/>
            <a:ext cx="3913632" cy="960120"/>
          </a:xfrm>
          <a:prstGeom prst="roundRect">
            <a:avLst>
              <a:gd name="adj" fmla="val 8000"/>
            </a:avLst>
          </a:prstGeom>
          <a:solidFill>
            <a:srgbClr val="F4F6F8"/>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193024" y="5394960"/>
            <a:ext cx="3730752" cy="841248"/>
          </a:xfrm>
          <a:prstGeom prst="rect">
            <a:avLst/>
          </a:prstGeom>
          <a:noFill/>
        </p:spPr>
        <p:txBody>
          <a:bodyPr wrap="square" lIns="45720" rIns="36576" tIns="18288" bIns="9144"/>
          <a:lstStyle/>
          <a:p>
            <a:pPr algn="l">
              <a:spcBef>
                <a:spcPts val="0"/>
              </a:spcBef>
              <a:spcAft>
                <a:spcPts val="0"/>
              </a:spcAft>
            </a:pPr>
            <a:r>
              <a:rPr sz="1300" b="1">
                <a:solidFill>
                  <a:srgbClr val="B91C1C"/>
                </a:solidFill>
                <a:latin typeface="Calibri"/>
              </a:rPr>
              <a:t>If the assistant is down</a:t>
            </a:r>
          </a:p>
          <a:p>
            <a:pPr algn="l">
              <a:spcBef>
                <a:spcPts val="200"/>
              </a:spcBef>
              <a:spcAft>
                <a:spcPts val="0"/>
              </a:spcAft>
            </a:pPr>
            <a:r>
              <a:rPr sz="1200" b="0">
                <a:solidFill>
                  <a:srgbClr val="374151"/>
                </a:solidFill>
                <a:latin typeface="Calibri"/>
              </a:rPr>
              <a:t>The incident is still created.</a:t>
            </a:r>
          </a:p>
          <a:p>
            <a:pPr algn="l">
              <a:spcBef>
                <a:spcPts val="0"/>
              </a:spcBef>
              <a:spcAft>
                <a:spcPts val="0"/>
              </a:spcAft>
            </a:pPr>
            <a:r>
              <a:rPr sz="1200" b="0">
                <a:solidFill>
                  <a:srgbClr val="374151"/>
                </a:solidFill>
                <a:latin typeface="Calibri"/>
              </a:rPr>
              <a:t>The escalation policy still runs.</a:t>
            </a:r>
          </a:p>
        </p:txBody>
      </p:sp>
      <p:sp>
        <p:nvSpPr>
          <p:cNvPr id="67" name="TextBox 66"/>
          <p:cNvSpPr txBox="1"/>
          <p:nvPr/>
        </p:nvSpPr>
        <p:spPr>
          <a:xfrm>
            <a:off x="201168" y="6446520"/>
            <a:ext cx="11795760" cy="292608"/>
          </a:xfrm>
          <a:prstGeom prst="rect">
            <a:avLst/>
          </a:prstGeom>
          <a:noFill/>
        </p:spPr>
        <p:txBody>
          <a:bodyPr wrap="square" lIns="45720" rIns="36576" tIns="18288" bIns="9144"/>
          <a:lstStyle/>
          <a:p>
            <a:pPr algn="l">
              <a:spcBef>
                <a:spcPts val="0"/>
              </a:spcBef>
              <a:spcAft>
                <a:spcPts val="0"/>
              </a:spcAft>
            </a:pPr>
            <a:r>
              <a:rPr sz="1200" b="0">
                <a:solidFill>
                  <a:srgbClr val="374151"/>
                </a:solidFill>
                <a:latin typeface="Calibri"/>
              </a:rPr>
              <a:t>Red dot is Primary. A spoken name can also appear in the Scribe note. Customer, financial, and health fields are not inputs on this picture.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PagerDuty AI Architecture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