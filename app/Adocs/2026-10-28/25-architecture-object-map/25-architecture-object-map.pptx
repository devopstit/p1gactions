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standing architecture, drawn like the object interaction map. Detection sends the critical event to PagerDuty. PagerDuty pages Primary, notifies the Teams channel monitoring-2026-prod, and calls BAM-India. Primary prompts PagerDuty AI. That assistant is the only new object. The reply in Teams has four objects: summary, causes, status, and the Scribe wrap-up. Causes stays a draft until Primary replaces it with confirmed evidence. Primary then escalates or resolves, edits the final PIR, and files ServiceNow or Silva. A late joiner reads the same reply and opens the one tool their team 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36576"/>
            <a:ext cx="7863840" cy="292608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Proposed Business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9184"/>
            <a:ext cx="8046720" cy="237744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6E4F0"/>
                </a:solidFill>
                <a:latin typeface="Calibri"/>
              </a:rPr>
              <a:t>Same object style as the data-flow map. ALJ and ADJ (P&amp;C).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28016"/>
            <a:ext cx="2926080" cy="384048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Architecture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6E4F0"/>
                </a:solidFill>
                <a:latin typeface="Calibri"/>
              </a:rPr>
              <a:t>24x7 war 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731520"/>
            <a:ext cx="9281160" cy="384048"/>
          </a:xfrm>
          <a:prstGeom prst="roundRect">
            <a:avLst>
              <a:gd name="adj" fmla="val 10000"/>
            </a:avLst>
          </a:prstGeom>
          <a:solidFill>
            <a:srgbClr val="FFF6CC"/>
          </a:solidFill>
          <a:ln w="12700">
            <a:solidFill>
              <a:srgbClr val="C496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786384"/>
            <a:ext cx="9098280" cy="292608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PagerDuty AI is the only new object. Primary replaces the root-cause draft with confirmed evidence before the PIR is published.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786384"/>
            <a:ext cx="2377440" cy="292608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Red dot = Primary.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" y="1261872"/>
            <a:ext cx="3383280" cy="1234440"/>
          </a:xfrm>
          <a:prstGeom prst="roundRect">
            <a:avLst>
              <a:gd name="adj" fmla="val 10000"/>
            </a:avLst>
          </a:prstGeom>
          <a:solidFill>
            <a:srgbClr val="E7F0F8"/>
          </a:solidFill>
          <a:ln w="1714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1298448"/>
            <a:ext cx="3200400" cy="1143000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C4C"/>
                </a:solidFill>
                <a:latin typeface="Calibri"/>
              </a:rPr>
              <a:t>Detection zone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Dynatrace, Splunk, Selenium/Jenkins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VeloCloud, Nagios, Aruba UXI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SCOM, CloudWatch, X-Ray,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Prometheus, Kibana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84448" y="1828800"/>
            <a:ext cx="576072" cy="0"/>
          </a:xfrm>
          <a:prstGeom prst="line">
            <a:avLst/>
          </a:prstGeom>
          <a:ln w="19050">
            <a:solidFill>
              <a:srgbClr val="0F2C4C"/>
            </a:solidFill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20440" y="1536192"/>
            <a:ext cx="731520" cy="256032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C4C"/>
                </a:solidFill>
                <a:latin typeface="Calibri"/>
              </a:rPr>
              <a:t>event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353312"/>
            <a:ext cx="2468880" cy="1051560"/>
          </a:xfrm>
          <a:prstGeom prst="roundRect">
            <a:avLst>
              <a:gd name="adj" fmla="val 10000"/>
            </a:avLst>
          </a:prstGeom>
          <a:solidFill>
            <a:srgbClr val="0F2C4C"/>
          </a:solidFill>
          <a:ln w="19050">
            <a:solidFill>
              <a:srgbClr val="0F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408176"/>
            <a:ext cx="2286000" cy="932688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PagerDuty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Incident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Escalation policy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Call and SMS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629400" y="1417320"/>
            <a:ext cx="548640" cy="137160"/>
          </a:xfrm>
          <a:prstGeom prst="line">
            <a:avLst/>
          </a:prstGeom>
          <a:ln w="19050">
            <a:solidFill>
              <a:srgbClr val="0F2C4C"/>
            </a:solidFill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0" y="1207008"/>
            <a:ext cx="594360" cy="201168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B5C"/>
                </a:solidFill>
                <a:latin typeface="Calibri"/>
              </a:rPr>
              <a:t>page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1261872"/>
            <a:ext cx="2331720" cy="530352"/>
          </a:xfrm>
          <a:prstGeom prst="roundRect">
            <a:avLst>
              <a:gd name="adj" fmla="val 10000"/>
            </a:avLst>
          </a:prstGeom>
          <a:solidFill>
            <a:srgbClr val="E7F6F2"/>
          </a:solidFill>
          <a:ln w="19050">
            <a:solidFill>
              <a:srgbClr val="0E6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60336" y="1335024"/>
            <a:ext cx="128016" cy="12801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316736"/>
            <a:ext cx="2011680" cy="420624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6B5C"/>
                </a:solidFill>
                <a:latin typeface="Calibri"/>
              </a:rPr>
              <a:t>Primary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On-call employee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29400" y="1874519"/>
            <a:ext cx="548640" cy="91441"/>
          </a:xfrm>
          <a:prstGeom prst="line">
            <a:avLst/>
          </a:prstGeom>
          <a:ln w="19050">
            <a:solidFill>
              <a:srgbClr val="0F2C4C"/>
            </a:solidFill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37960" y="1664208"/>
            <a:ext cx="640080" cy="201168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E7A46"/>
                </a:solidFill>
                <a:latin typeface="Calibri"/>
              </a:rPr>
              <a:t>notify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8040" y="1874519"/>
            <a:ext cx="2331720" cy="530352"/>
          </a:xfrm>
          <a:prstGeom prst="roundRect">
            <a:avLst>
              <a:gd name="adj" fmla="val 10000"/>
            </a:avLst>
          </a:prstGeom>
          <a:solidFill>
            <a:srgbClr val="E8F6EE"/>
          </a:solidFill>
          <a:ln w="15875">
            <a:solidFill>
              <a:srgbClr val="1E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1901952"/>
            <a:ext cx="2148840" cy="457200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7A46"/>
                </a:solidFill>
                <a:latin typeface="Calibri"/>
              </a:rPr>
              <a:t>Teams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C4C"/>
                </a:solidFill>
                <a:latin typeface="Calibri"/>
              </a:rPr>
              <a:t>monitoring-2026-prod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94960" y="2404872"/>
            <a:ext cx="0" cy="292608"/>
          </a:xfrm>
          <a:prstGeom prst="line">
            <a:avLst/>
          </a:prstGeom>
          <a:ln w="19050">
            <a:solidFill>
              <a:srgbClr val="0F2C4C"/>
            </a:solidFill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0" y="2450592"/>
            <a:ext cx="777240" cy="219456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E7A46"/>
                </a:solidFill>
                <a:latin typeface="Calibri"/>
              </a:rPr>
              <a:t>call / SMS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2697480"/>
            <a:ext cx="2468880" cy="502920"/>
          </a:xfrm>
          <a:prstGeom prst="roundRect">
            <a:avLst>
              <a:gd name="adj" fmla="val 10000"/>
            </a:avLst>
          </a:prstGeom>
          <a:solidFill>
            <a:srgbClr val="E8F6EE"/>
          </a:solidFill>
          <a:ln w="15875">
            <a:solidFill>
              <a:srgbClr val="1E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2743200"/>
            <a:ext cx="2286000" cy="411480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7A46"/>
                </a:solidFill>
                <a:latin typeface="Calibri"/>
              </a:rPr>
              <a:t>BAM-India 24x7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74151"/>
                </a:solidFill>
                <a:latin typeface="Calibri"/>
              </a:rPr>
              <a:t>Receives the page, then escalates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" y="3337560"/>
            <a:ext cx="1965960" cy="566928"/>
          </a:xfrm>
          <a:prstGeom prst="roundRect">
            <a:avLst>
              <a:gd name="adj" fmla="val 10000"/>
            </a:avLst>
          </a:prstGeom>
          <a:solidFill>
            <a:srgbClr val="E7F6F2"/>
          </a:solidFill>
          <a:ln w="19050">
            <a:solidFill>
              <a:srgbClr val="0E6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4320" y="3410712"/>
            <a:ext cx="128016" cy="12801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3383280"/>
            <a:ext cx="1691640" cy="475488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6B5C"/>
                </a:solidFill>
                <a:latin typeface="Calibri"/>
              </a:rPr>
              <a:t>Primary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Asks in the channel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167128" y="3621024"/>
            <a:ext cx="621792" cy="0"/>
          </a:xfrm>
          <a:prstGeom prst="line">
            <a:avLst/>
          </a:prstGeom>
          <a:ln w="19050">
            <a:solidFill>
              <a:srgbClr val="0F2C4C"/>
            </a:solidFill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194560" y="3364992"/>
            <a:ext cx="594360" cy="219456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560A"/>
                </a:solidFill>
                <a:latin typeface="Calibri"/>
              </a:rPr>
              <a:t>prompt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88920" y="3337560"/>
            <a:ext cx="3063240" cy="566928"/>
          </a:xfrm>
          <a:prstGeom prst="roundRect">
            <a:avLst>
              <a:gd name="adj" fmla="val 10000"/>
            </a:avLst>
          </a:prstGeom>
          <a:solidFill>
            <a:srgbClr val="FFF4E8"/>
          </a:solidFill>
          <a:ln w="25400">
            <a:solidFill>
              <a:srgbClr val="C45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360" y="3364992"/>
            <a:ext cx="2880360" cy="502920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560A"/>
                </a:solidFill>
                <a:latin typeface="Calibri"/>
              </a:rPr>
              <a:t>PagerDuty AI Assistant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The only new object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297680" y="3904487"/>
            <a:ext cx="0" cy="228600"/>
          </a:xfrm>
          <a:prstGeom prst="line">
            <a:avLst/>
          </a:prstGeom>
          <a:ln w="19050">
            <a:solidFill>
              <a:srgbClr val="0F2C4C"/>
            </a:solidFill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01168" y="4133087"/>
            <a:ext cx="6903720" cy="868680"/>
          </a:xfrm>
          <a:prstGeom prst="roundRect">
            <a:avLst>
              <a:gd name="adj" fmla="val 10000"/>
            </a:avLst>
          </a:prstGeom>
          <a:solidFill>
            <a:srgbClr val="FFF4E8"/>
          </a:solidFill>
          <a:ln w="14604">
            <a:solidFill>
              <a:srgbClr val="C45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" y="4151376"/>
            <a:ext cx="3108960" cy="237744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560A"/>
                </a:solidFill>
                <a:latin typeface="Calibri"/>
              </a:rPr>
              <a:t>Reply objects in Teams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0896" y="4443984"/>
            <a:ext cx="1554480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45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" y="4498848"/>
            <a:ext cx="1481328" cy="329184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summary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65960" y="4443984"/>
            <a:ext cx="1554480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45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02536" y="4498848"/>
            <a:ext cx="1481328" cy="329184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causes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21024" y="4443984"/>
            <a:ext cx="1554480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45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0" y="4498848"/>
            <a:ext cx="1481328" cy="329184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status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76088" y="4443984"/>
            <a:ext cx="1554480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45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12664" y="4498848"/>
            <a:ext cx="1481328" cy="329184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Scribe wrap-up</a:t>
            </a:r>
          </a:p>
        </p:txBody>
      </p:sp>
      <p:sp>
        <p:nvSpPr>
          <p:cNvPr id="47" name="Oval 46"/>
          <p:cNvSpPr/>
          <p:nvPr/>
        </p:nvSpPr>
        <p:spPr>
          <a:xfrm>
            <a:off x="5340096" y="4498848"/>
            <a:ext cx="128016" cy="12801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1097280" y="5001768"/>
            <a:ext cx="0" cy="256032"/>
          </a:xfrm>
          <a:prstGeom prst="line">
            <a:avLst/>
          </a:prstGeom>
          <a:ln w="19050">
            <a:solidFill>
              <a:srgbClr val="0F2C4C"/>
            </a:solidFill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201168" y="525780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E7F6F2"/>
          </a:solidFill>
          <a:ln w="19050">
            <a:solidFill>
              <a:srgbClr val="0E6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74320" y="5330952"/>
            <a:ext cx="128016" cy="12801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" y="5321808"/>
            <a:ext cx="1463040" cy="502920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6B5C"/>
                </a:solidFill>
                <a:latin typeface="Calibri"/>
              </a:rPr>
              <a:t>Primary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Fact-check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938528" y="5532120"/>
            <a:ext cx="393192" cy="0"/>
          </a:xfrm>
          <a:prstGeom prst="line">
            <a:avLst/>
          </a:prstGeom>
          <a:ln w="19050">
            <a:solidFill>
              <a:srgbClr val="0F2C4C"/>
            </a:solidFill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2331720" y="5257800"/>
            <a:ext cx="2148840" cy="64008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4604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423160" y="5303520"/>
            <a:ext cx="1965960" cy="548640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74151"/>
                </a:solidFill>
                <a:latin typeface="Calibri"/>
              </a:rPr>
              <a:t>PagerDuty actions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escalate or resolve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480560" y="5532120"/>
            <a:ext cx="320040" cy="0"/>
          </a:xfrm>
          <a:prstGeom prst="line">
            <a:avLst/>
          </a:prstGeom>
          <a:ln w="19050">
            <a:solidFill>
              <a:srgbClr val="0F2C4C"/>
            </a:solidFill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480560" y="5257800"/>
            <a:ext cx="365760" cy="201168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C4C"/>
                </a:solidFill>
                <a:latin typeface="Calibri"/>
              </a:rPr>
              <a:t>edit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00600" y="525780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64608" y="5358384"/>
            <a:ext cx="1417320" cy="457200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C4C"/>
                </a:solidFill>
                <a:latin typeface="Calibri"/>
              </a:rPr>
              <a:t>Final PIR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74151"/>
                </a:solidFill>
                <a:latin typeface="Calibri"/>
              </a:rPr>
              <a:t>After the draft cause is replaced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355080" y="5577840"/>
            <a:ext cx="320040" cy="228600"/>
          </a:xfrm>
          <a:prstGeom prst="line">
            <a:avLst/>
          </a:prstGeom>
          <a:ln w="19050">
            <a:solidFill>
              <a:srgbClr val="0F2C4C"/>
            </a:solidFill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355080" y="5285232"/>
            <a:ext cx="411480" cy="201168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74151"/>
                </a:solidFill>
                <a:latin typeface="Calibri"/>
              </a:rPr>
              <a:t>file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75120" y="5623560"/>
            <a:ext cx="2331720" cy="566928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4604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66560" y="5669280"/>
            <a:ext cx="2148840" cy="475488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74151"/>
                </a:solidFill>
                <a:latin typeface="Calibri"/>
              </a:rPr>
              <a:t>ServiceNow / Silva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74151"/>
                </a:solidFill>
                <a:latin typeface="Calibri"/>
              </a:rPr>
              <a:t>Correlation after Primary acts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46920" y="1261872"/>
            <a:ext cx="2331720" cy="3794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38360" y="1335024"/>
            <a:ext cx="2148840" cy="3611880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C4C"/>
                </a:solidFill>
                <a:latin typeface="Calibri"/>
              </a:rPr>
              <a:t>Who owns a box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1B4F72"/>
                </a:solidFill>
                <a:latin typeface="Calibri"/>
              </a:rPr>
              <a:t>Detection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The team that already owns that tool.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1B4F72"/>
                </a:solidFill>
                <a:latin typeface="Calibri"/>
              </a:rPr>
              <a:t>PagerDuty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Technology DevOps.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1E7A46"/>
                </a:solidFill>
                <a:latin typeface="Calibri"/>
              </a:rPr>
              <a:t>Teams channel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Technology SREs and Application Support.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0E6B5C"/>
                </a:solidFill>
                <a:latin typeface="Calibri"/>
              </a:rPr>
              <a:t>Late joiner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Reads the reply, then opens one tool.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DBA uses DEM.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Network uses Nagios.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Axa GO uses SCOM.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Cloud Broker uses AWS tools.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1168" y="6510528"/>
            <a:ext cx="9235440" cy="256032"/>
          </a:xfrm>
          <a:prstGeom prst="rect">
            <a:avLst/>
          </a:prstGeom>
          <a:noFill/>
        </p:spPr>
        <p:txBody>
          <a:bodyPr wrap="square" lIns="54864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Shift is not an object on this picture. If the assistant is down, the incident and the escalation policy still 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Proposed Business Architecture</dc:title>
  <dc:subject>Object map for the 24x7 war room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