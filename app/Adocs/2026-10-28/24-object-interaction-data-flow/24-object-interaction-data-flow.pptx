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Read top to bottom. Dynatrace problem P-88421 is on PagerDuty incident INC-48291. These ids are samples. PagerDuty pages Primary. The same incident notifies the Teams channel monitoring-2026-prod. Primary prompts PagerDuty AI Assistant. The reply objects are summary, causes, status, and the Scribe wrap-up. Causes is a draft. Primary fact-checks, then escalates or resolves in PagerDuty. Before the PIR is published, Primary replaces that root-cause draft with confirmed evidence and edits the PIR draft into the final PIR. The red dot is Primary, the on-call employee. A spoken name can also appear in the Scribe wrap-up.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0F2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56032" y="54864"/>
            <a:ext cx="7772400" cy="310896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Object interaction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347472"/>
            <a:ext cx="8046720" cy="237744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D6E4F0"/>
                </a:solidFill>
                <a:latin typeface="Calibri"/>
              </a:rPr>
              <a:t>Data flow for one critical incident. Sample ids, not a live ticket.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778240" y="146304"/>
            <a:ext cx="3108960" cy="384048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Data Flow</a:t>
            </a:r>
          </a:p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6E4F0"/>
                </a:solidFill>
                <a:latin typeface="Calibri"/>
              </a:rPr>
              <a:t>ALJ and ADJ (P&amp;C)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01168" y="749808"/>
            <a:ext cx="8732520" cy="438912"/>
          </a:xfrm>
          <a:prstGeom prst="roundRect">
            <a:avLst>
              <a:gd name="adj" fmla="val 12000"/>
            </a:avLst>
          </a:prstGeom>
          <a:solidFill>
            <a:srgbClr val="FFF6CC"/>
          </a:solidFill>
          <a:ln w="12700">
            <a:solidFill>
              <a:srgbClr val="C496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92608" y="804672"/>
            <a:ext cx="8549640" cy="347472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374151"/>
                </a:solidFill>
                <a:latin typeface="Calibri"/>
              </a:rPr>
              <a:t>Primary replaces the root-cause draft with confirmed evidence before the PIR is published.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52560" y="804672"/>
            <a:ext cx="2880360" cy="347472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B91C1C"/>
                </a:solidFill>
                <a:latin typeface="Calibri"/>
              </a:rPr>
              <a:t>Red dot = Primary, the on-call employee.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" y="1353312"/>
            <a:ext cx="3246120" cy="566928"/>
          </a:xfrm>
          <a:prstGeom prst="roundRect">
            <a:avLst>
              <a:gd name="adj" fmla="val 12000"/>
            </a:avLst>
          </a:prstGeom>
          <a:solidFill>
            <a:srgbClr val="E7F0F8"/>
          </a:solidFill>
          <a:ln w="1714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" y="1389888"/>
            <a:ext cx="3108960" cy="493776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B4F72"/>
                </a:solidFill>
                <a:latin typeface="Calibri"/>
              </a:rPr>
              <a:t>Dynatrace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C4C"/>
                </a:solidFill>
                <a:latin typeface="Calibri"/>
              </a:rPr>
              <a:t>Problem P-88421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874519" y="1920240"/>
            <a:ext cx="0" cy="256032"/>
          </a:xfrm>
          <a:prstGeom prst="line">
            <a:avLst/>
          </a:prstGeom>
          <a:ln w="19050">
            <a:solidFill>
              <a:srgbClr val="0F2C4C"/>
            </a:solidFill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56032" y="2176272"/>
            <a:ext cx="3246120" cy="640080"/>
          </a:xfrm>
          <a:prstGeom prst="roundRect">
            <a:avLst>
              <a:gd name="adj" fmla="val 12000"/>
            </a:avLst>
          </a:prstGeom>
          <a:solidFill>
            <a:srgbClr val="0F2C4C"/>
          </a:solidFill>
          <a:ln w="17145">
            <a:solidFill>
              <a:srgbClr val="0F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9184" y="2212848"/>
            <a:ext cx="3108960" cy="566928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6C453"/>
                </a:solidFill>
                <a:latin typeface="Calibri"/>
              </a:rPr>
              <a:t>PagerDuty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libri"/>
              </a:rPr>
              <a:t>INC-48291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502152" y="2395728"/>
            <a:ext cx="658368" cy="0"/>
          </a:xfrm>
          <a:prstGeom prst="line">
            <a:avLst/>
          </a:prstGeom>
          <a:ln w="19050">
            <a:solidFill>
              <a:srgbClr val="0F2C4C"/>
            </a:solidFill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3520440" y="2084831"/>
            <a:ext cx="640080" cy="237744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C4C"/>
                </a:solidFill>
                <a:latin typeface="Calibri"/>
              </a:rPr>
              <a:t>page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60520" y="2084831"/>
            <a:ext cx="2331720" cy="658368"/>
          </a:xfrm>
          <a:prstGeom prst="roundRect">
            <a:avLst>
              <a:gd name="adj" fmla="val 12000"/>
            </a:avLst>
          </a:prstGeom>
          <a:solidFill>
            <a:srgbClr val="E7F6F2"/>
          </a:solidFill>
          <a:ln w="19050">
            <a:solidFill>
              <a:srgbClr val="0E6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242816" y="2157984"/>
            <a:ext cx="146304" cy="146304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07408" y="2139696"/>
            <a:ext cx="2011680" cy="548640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0E6B5C"/>
                </a:solidFill>
                <a:latin typeface="Calibri"/>
              </a:rPr>
              <a:t>Primary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On-call, receives the page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502152" y="2697480"/>
            <a:ext cx="3218688" cy="246888"/>
          </a:xfrm>
          <a:prstGeom prst="line">
            <a:avLst/>
          </a:prstGeom>
          <a:ln w="19050">
            <a:solidFill>
              <a:srgbClr val="0F2C4C"/>
            </a:solidFill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297680" y="2724912"/>
            <a:ext cx="777240" cy="219456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7A46"/>
                </a:solidFill>
                <a:latin typeface="Calibri"/>
              </a:rPr>
              <a:t>notify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20840" y="2697480"/>
            <a:ext cx="3063240" cy="640080"/>
          </a:xfrm>
          <a:prstGeom prst="roundRect">
            <a:avLst>
              <a:gd name="adj" fmla="val 12000"/>
            </a:avLst>
          </a:prstGeom>
          <a:solidFill>
            <a:srgbClr val="E8F6EE"/>
          </a:solidFill>
          <a:ln w="17145">
            <a:solidFill>
              <a:srgbClr val="1E7A4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12280" y="2734056"/>
            <a:ext cx="2880360" cy="566928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7A46"/>
                </a:solidFill>
                <a:latin typeface="Calibri"/>
              </a:rPr>
              <a:t>Teams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C4C"/>
                </a:solidFill>
                <a:latin typeface="Calibri"/>
              </a:rPr>
              <a:t>monitoring-2026-prod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874519" y="2816352"/>
            <a:ext cx="0" cy="704088"/>
          </a:xfrm>
          <a:prstGeom prst="line">
            <a:avLst/>
          </a:prstGeom>
          <a:ln w="19050">
            <a:solidFill>
              <a:srgbClr val="0F2C4C"/>
            </a:solidFill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256032" y="3520440"/>
            <a:ext cx="2148840" cy="621792"/>
          </a:xfrm>
          <a:prstGeom prst="roundRect">
            <a:avLst>
              <a:gd name="adj" fmla="val 12000"/>
            </a:avLst>
          </a:prstGeom>
          <a:solidFill>
            <a:srgbClr val="E7F6F2"/>
          </a:solidFill>
          <a:ln w="19050">
            <a:solidFill>
              <a:srgbClr val="0E6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329184" y="3593592"/>
            <a:ext cx="146304" cy="146304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6" y="3584448"/>
            <a:ext cx="1828800" cy="502920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6B5C"/>
                </a:solidFill>
                <a:latin typeface="Calibri"/>
              </a:rPr>
              <a:t>Primary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Asks in Teams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4872" y="3822191"/>
            <a:ext cx="749808" cy="0"/>
          </a:xfrm>
          <a:prstGeom prst="line">
            <a:avLst/>
          </a:prstGeom>
          <a:ln w="19050">
            <a:solidFill>
              <a:srgbClr val="0F2C4C"/>
            </a:solidFill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2468880" y="3547872"/>
            <a:ext cx="685800" cy="219456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4560A"/>
                </a:solidFill>
                <a:latin typeface="Calibri"/>
              </a:rPr>
              <a:t>prompt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154680" y="3520440"/>
            <a:ext cx="3383280" cy="621792"/>
          </a:xfrm>
          <a:prstGeom prst="roundRect">
            <a:avLst>
              <a:gd name="adj" fmla="val 12000"/>
            </a:avLst>
          </a:prstGeom>
          <a:solidFill>
            <a:srgbClr val="FFF4E8"/>
          </a:solidFill>
          <a:ln w="22225">
            <a:solidFill>
              <a:srgbClr val="C45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246120" y="3566160"/>
            <a:ext cx="3200400" cy="530352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4560A"/>
                </a:solidFill>
                <a:latin typeface="Calibri"/>
              </a:rPr>
              <a:t>PagerDuty AI Assistant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Reads the incident and the question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846320" y="4142232"/>
            <a:ext cx="0" cy="265176"/>
          </a:xfrm>
          <a:prstGeom prst="line">
            <a:avLst/>
          </a:prstGeom>
          <a:ln w="19050">
            <a:solidFill>
              <a:srgbClr val="0F2C4C"/>
            </a:solidFill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256032" y="4407408"/>
            <a:ext cx="7818120" cy="960120"/>
          </a:xfrm>
          <a:prstGeom prst="roundRect">
            <a:avLst>
              <a:gd name="adj" fmla="val 12000"/>
            </a:avLst>
          </a:prstGeom>
          <a:solidFill>
            <a:srgbClr val="FFF4E8"/>
          </a:solidFill>
          <a:ln w="15875">
            <a:solidFill>
              <a:srgbClr val="C45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443984"/>
            <a:ext cx="2926080" cy="256032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C4560A"/>
                </a:solidFill>
                <a:latin typeface="Calibri"/>
              </a:rPr>
              <a:t>AI reply objects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736592"/>
            <a:ext cx="17373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45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02336" y="4754880"/>
            <a:ext cx="1664208" cy="475488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summary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74151"/>
                </a:solidFill>
                <a:latin typeface="Calibri"/>
              </a:rPr>
              <a:t>Catch-up text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40280" y="4736592"/>
            <a:ext cx="17373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45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76856" y="4754880"/>
            <a:ext cx="1664208" cy="475488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causes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74151"/>
                </a:solidFill>
                <a:latin typeface="Calibri"/>
              </a:rPr>
              <a:t>Draft only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14800" y="4736592"/>
            <a:ext cx="17373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45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51376" y="4754880"/>
            <a:ext cx="1664208" cy="475488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status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74151"/>
                </a:solidFill>
                <a:latin typeface="Calibri"/>
              </a:rPr>
              <a:t>A person sends it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989320" y="4736592"/>
            <a:ext cx="17373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4560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025896" y="4754880"/>
            <a:ext cx="1664208" cy="475488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Scribe wrap-up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74151"/>
                </a:solidFill>
                <a:latin typeface="Calibri"/>
              </a:rPr>
              <a:t>Bridge note, text</a:t>
            </a:r>
          </a:p>
        </p:txBody>
      </p:sp>
      <p:sp>
        <p:nvSpPr>
          <p:cNvPr id="43" name="Oval 42"/>
          <p:cNvSpPr/>
          <p:nvPr/>
        </p:nvSpPr>
        <p:spPr>
          <a:xfrm>
            <a:off x="6053328" y="4791456"/>
            <a:ext cx="146304" cy="146304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4" name="Connector 43"/>
          <p:cNvCxnSpPr/>
          <p:nvPr/>
        </p:nvCxnSpPr>
        <p:spPr>
          <a:xfrm>
            <a:off x="1874519" y="5367528"/>
            <a:ext cx="0" cy="228600"/>
          </a:xfrm>
          <a:prstGeom prst="line">
            <a:avLst/>
          </a:prstGeom>
          <a:ln w="19050">
            <a:solidFill>
              <a:srgbClr val="0F2C4C"/>
            </a:solidFill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56032" y="5596128"/>
            <a:ext cx="1965960" cy="566928"/>
          </a:xfrm>
          <a:prstGeom prst="roundRect">
            <a:avLst>
              <a:gd name="adj" fmla="val 12000"/>
            </a:avLst>
          </a:prstGeom>
          <a:solidFill>
            <a:srgbClr val="E7F6F2"/>
          </a:solidFill>
          <a:ln w="19050">
            <a:solidFill>
              <a:srgbClr val="0E6B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329184" y="5669280"/>
            <a:ext cx="146304" cy="146304"/>
          </a:xfrm>
          <a:prstGeom prst="ellipse">
            <a:avLst/>
          </a:prstGeom>
          <a:solidFill>
            <a:srgbClr val="B91C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3776" y="5650992"/>
            <a:ext cx="1645920" cy="457200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0E6B5C"/>
                </a:solidFill>
                <a:latin typeface="Calibri"/>
              </a:rPr>
              <a:t>Primary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Checks the reply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2221992" y="5870448"/>
            <a:ext cx="704088" cy="0"/>
          </a:xfrm>
          <a:prstGeom prst="line">
            <a:avLst/>
          </a:prstGeom>
          <a:ln w="19050">
            <a:solidFill>
              <a:srgbClr val="0F2C4C"/>
            </a:solidFill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2240280" y="5596128"/>
            <a:ext cx="777240" cy="219456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0F2C4C"/>
                </a:solidFill>
                <a:latin typeface="Calibri"/>
              </a:rPr>
              <a:t>fact-check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926080" y="5596128"/>
            <a:ext cx="3794760" cy="566928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5875">
            <a:solidFill>
              <a:srgbClr val="37415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017520" y="5614416"/>
            <a:ext cx="3611880" cy="512064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74151"/>
                </a:solidFill>
                <a:latin typeface="Calibri"/>
              </a:rPr>
              <a:t>PagerDuty actions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0F2C4C"/>
                </a:solidFill>
                <a:latin typeface="Calibri"/>
              </a:rPr>
              <a:t>escalate     or     resolve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4754880" y="6163056"/>
            <a:ext cx="3063240" cy="192024"/>
          </a:xfrm>
          <a:prstGeom prst="line">
            <a:avLst/>
          </a:prstGeom>
          <a:ln w="19050">
            <a:solidFill>
              <a:srgbClr val="0F2C4C"/>
            </a:solidFill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Rounded Rectangle 52"/>
          <p:cNvSpPr/>
          <p:nvPr/>
        </p:nvSpPr>
        <p:spPr>
          <a:xfrm>
            <a:off x="7818120" y="5989320"/>
            <a:ext cx="1965960" cy="53035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882127" y="6016752"/>
            <a:ext cx="1828800" cy="457200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PIR draft object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9784080" y="6254496"/>
            <a:ext cx="411480" cy="0"/>
          </a:xfrm>
          <a:prstGeom prst="line">
            <a:avLst/>
          </a:prstGeom>
          <a:ln w="19050">
            <a:solidFill>
              <a:srgbClr val="0F2C4C"/>
            </a:solidFill>
            <a:head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9802368" y="6016752"/>
            <a:ext cx="411480" cy="201168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0F2C4C"/>
                </a:solidFill>
                <a:latin typeface="Calibri"/>
              </a:rPr>
              <a:t>edit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10195560" y="5989320"/>
            <a:ext cx="1783080" cy="530352"/>
          </a:xfrm>
          <a:prstGeom prst="roundRect">
            <a:avLst>
              <a:gd name="adj" fmla="val 12000"/>
            </a:avLst>
          </a:prstGeom>
          <a:solidFill>
            <a:srgbClr val="0F2C4C"/>
          </a:solidFill>
          <a:ln w="15875">
            <a:solidFill>
              <a:srgbClr val="0F2C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259568" y="6053328"/>
            <a:ext cx="1645920" cy="384048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Final PIR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9921240" y="1353312"/>
            <a:ext cx="2057400" cy="44348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1B4F7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012680" y="1417320"/>
            <a:ext cx="1874519" cy="4297680"/>
          </a:xfrm>
          <a:prstGeom prst="rect">
            <a:avLst/>
          </a:prstGeom>
          <a:noFill/>
        </p:spPr>
        <p:txBody>
          <a:bodyPr wrap="square" lIns="54864" rIns="45720" tIns="18288" bIns="18288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How to read a line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page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Incident reaches Primary.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1E7A46"/>
                </a:solidFill>
                <a:latin typeface="Calibri"/>
              </a:rPr>
              <a:t>notify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Channel monitoring-2026-prod is told.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C4560A"/>
                </a:solidFill>
                <a:latin typeface="Calibri"/>
              </a:rPr>
              <a:t>prompt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Primary asks the assistant.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fact-check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Primary checks, then escalates or resolves.</a:t>
            </a:r>
          </a:p>
          <a:p>
            <a:pPr algn="l">
              <a:spcBef>
                <a:spcPts val="600"/>
              </a:spcBef>
              <a:spcAft>
                <a:spcPts val="0"/>
              </a:spcAft>
            </a:pPr>
            <a:r>
              <a:rPr sz="1200" b="1">
                <a:solidFill>
                  <a:srgbClr val="0F2C4C"/>
                </a:solidFill>
                <a:latin typeface="Calibri"/>
              </a:rPr>
              <a:t>edit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74151"/>
                </a:solidFill>
                <a:latin typeface="Calibri"/>
              </a:rPr>
              <a:t>Confirmed evidence replaces the draft cause.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 interaction map</dc:title>
  <dc:subject>PagerDuty AI data flow, sample incident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